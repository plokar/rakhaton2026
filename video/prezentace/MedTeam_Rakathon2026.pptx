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Úvod" id="{3ba7e9a1-5e1c-977e-e608-fb4299a4d7d9}">
          <p14:sldIdLst>
            <p14:sldId id="256"/>
            <p14:sldId id="257"/>
          </p14:sldIdLst>
        </p14:section>
        <p14:section name="Problém" id="{c138ced2-517c-f887-a1c8-b1102888bb28}">
          <p14:sldIdLst>
            <p14:sldId id="258"/>
            <p14:sldId id="259"/>
            <p14:sldId id="260"/>
            <p14:sldId id="261"/>
            <p14:sldId id="262"/>
          </p14:sldIdLst>
        </p14:section>
        <p14:section name="Řešení" id="{44db5819-7844-5993-632b-ad1c4a91842b}">
          <p14:sldIdLst>
            <p14:sldId id="263"/>
            <p14:sldId id="264"/>
            <p14:sldId id="265"/>
            <p14:sldId id="266"/>
          </p14:sldIdLst>
        </p14:section>
        <p14:section name="Tým a závěr" id="{fde724bd-085b-a3e6-c5a6-5d850a709edb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Svítí, než začneme prezentovat (publikum si může naskenovat QR a vyzkoušet demo). Pak přejít na slide 2 s hookem a teprve po něm začít mluvit.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(30 s). V PowerPointu: vyberte video → Přehrávání → Spustit: Automaticky (ať se spustí hned po přechodu na slide). Během videa nemluvíme, začínáme až po logu.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MDT = multidisciplinární tým. V onkologii jde o komisi, kde se specialisté z různých oborů společně rozhodnou o léčbě pacienta s nádorem.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Jak to funguje: u jednoho stolu sedí onkolog, chirurg, radiolog, patolog, radiační onkolog a hlas pacienta (dotazníky). Probírají pacienta po pacientovi a rozhodují, co bude dál.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Fotka z jednání: na tabuli snímek, doktor čte zprávy. Problém: jakmile něco přeslechneš, jsi ztracen. A zeptat se znovu znamená zdržet celou komisi.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Prvotní řešení: všechno je někde v aplikaci, zprávy, laboratoř, snímky, dotazníky. Stačí se podívat.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Tohle všechno už víme. Ale hledat v aplikaci není to, co v tu chvíli chceš dělat. Komise má na pacienta 3 až 5 minut, na proklikávání prostě není čas.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Hlavní řešení: chybí ti informace? Zeptej se našeho AI bota. Odpoví okamžitě, jen z dat pacienta v nemocniční databázi, a každá věta má citaci zdroje. Na obrazovce je skutečná odpověď z aplikace.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Aktuální síť bez AI: nemocniční systémy (NIS, PACS, laboratoř, dotazníky) → InterSystems IRIS for Health jako FHIR databáze → aplikace MedTeam → komise (notebook předsedy a plátno).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server stojí v serverovně nemocnice, data neopouštějí nemocnici. Praktická ukázka na Raspberry Pi: zároveň kontrola, že je celý princip pochopitelný.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Celý tok dat: zprávy a dotazníky → databáze IRIS (FHIR) → AI připraví podklad s citacemi → jednání komise (plátno, chat, AI bot) → AI zapisovatel z diskuse → lékař potvrdí → zápis zpět do IRIS a export (PDF, FHIR).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Představení týmu. Fotky vložíte kliknutím na ikonu obrázku v rámečku (doplní se a ořízne samy).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Poděkování. QR kód zůstává na plátně během otázek.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CONTENT-image-2.jpe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PHOTO1-image-2.jpe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PHOTO2-image-2.jpe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image" Target="../media/TEAM4-image-2.jpe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160520"/>
            <a:ext cx="67665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8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ebastian.borik\Desktop\Projects\Rakhaton2026\video\prezentace\assets\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82512"/>
            <a:ext cx="299009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63367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MedTeam · MDT Copilot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ebastian.borik\Desktop\Projects\Rakhaton2026\video\prezentace\assets\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82512"/>
            <a:ext cx="299009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63367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MedTeam · MDT Copilot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5" name="Text 1"/>
          <p:cNvSpPr/>
          <p:nvPr>
            <p:ph idx="103" hasCustomPrompt="1"/>
          </p:nvPr>
        </p:nvSpPr>
        <p:spPr>
          <a:xfrm>
            <a:off x="640080" y="1508760"/>
            <a:ext cx="6766560" cy="4526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Vložte fotku z jednání komise (snímek na plátně, lékař čte zprávy)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ebastian.borik\Desktop\Projects\Rakhaton2026\video\prezentace\assets\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82512"/>
            <a:ext cx="299009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63367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MedTeam · MDT Copilot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5" name="Text 1"/>
          <p:cNvSpPr/>
          <p:nvPr>
            <p:ph idx="103" hasCustomPrompt="1"/>
          </p:nvPr>
        </p:nvSpPr>
        <p:spPr>
          <a:xfrm>
            <a:off x="640080" y="1508760"/>
            <a:ext cx="5303520" cy="3520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Vložte fotku AI serveru</a:t>
            </a:r>
            <a:endParaRPr lang="en-US" sz="1600" dirty="0"/>
          </a:p>
        </p:txBody>
      </p:sp>
      <p:sp>
        <p:nvSpPr>
          <p:cNvPr id="6" name="Text 1"/>
          <p:cNvSpPr/>
          <p:nvPr>
            <p:ph idx="104" hasCustomPrompt="1"/>
          </p:nvPr>
        </p:nvSpPr>
        <p:spPr>
          <a:xfrm>
            <a:off x="6245352" y="1508760"/>
            <a:ext cx="5303520" cy="3520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Vložte fotku Raspberry Pi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ebastian.borik\Desktop\Projects\Rakhaton2026\video\prezentace\assets\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82512"/>
            <a:ext cx="299009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63367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MedTeam · MDT Copilot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5" name="Text 1"/>
          <p:cNvSpPr/>
          <p:nvPr>
            <p:ph idx="103" hasCustomPrompt="1"/>
          </p:nvPr>
        </p:nvSpPr>
        <p:spPr>
          <a:xfrm>
            <a:off x="640080" y="1600200"/>
            <a:ext cx="237744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Fotka</a:t>
            </a:r>
            <a:endParaRPr lang="en-US" sz="1600" dirty="0"/>
          </a:p>
        </p:txBody>
      </p:sp>
      <p:sp>
        <p:nvSpPr>
          <p:cNvPr id="6" name="Text 1"/>
          <p:cNvSpPr/>
          <p:nvPr>
            <p:ph idx="104" hasCustomPrompt="1"/>
          </p:nvPr>
        </p:nvSpPr>
        <p:spPr>
          <a:xfrm>
            <a:off x="3474720" y="1600200"/>
            <a:ext cx="237744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Fotka</a:t>
            </a:r>
            <a:endParaRPr lang="en-US" sz="1600" dirty="0"/>
          </a:p>
        </p:txBody>
      </p:sp>
      <p:sp>
        <p:nvSpPr>
          <p:cNvPr id="7" name="Text 1"/>
          <p:cNvSpPr/>
          <p:nvPr>
            <p:ph idx="105" hasCustomPrompt="1"/>
          </p:nvPr>
        </p:nvSpPr>
        <p:spPr>
          <a:xfrm>
            <a:off x="6309360" y="1600200"/>
            <a:ext cx="237744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Fotka</a:t>
            </a:r>
            <a:endParaRPr lang="en-US" sz="1600" dirty="0"/>
          </a:p>
        </p:txBody>
      </p:sp>
      <p:sp>
        <p:nvSpPr>
          <p:cNvPr id="8" name="Text 1"/>
          <p:cNvSpPr/>
          <p:nvPr>
            <p:ph idx="106" hasCustomPrompt="1"/>
          </p:nvPr>
        </p:nvSpPr>
        <p:spPr>
          <a:xfrm>
            <a:off x="9144000" y="1600200"/>
            <a:ext cx="237744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Fotka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video" Target="../media/media-2-1.mp4"/><Relationship Id="rId2" Type="http://schemas.microsoft.com/office/2007/relationships/media" Target="../media/media-2-1.mp4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MedTeam" descr="MedTe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6583680" cy="217627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68680" y="39776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MDT Copilot</a:t>
            </a:r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 · podklady pro onkologickou komisi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86868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Rakathon 2026 · výzva Asseco CE · InterSystems IRIS for Health</a:t>
            </a:r>
            <a:endParaRPr lang="en-US" sz="1400" dirty="0"/>
          </a:p>
        </p:txBody>
      </p:sp>
      <p:sp>
        <p:nvSpPr>
          <p:cNvPr id="5" name="QR karta"/>
          <p:cNvSpPr/>
          <p:nvPr/>
        </p:nvSpPr>
        <p:spPr>
          <a:xfrm>
            <a:off x="8412480" y="1325880"/>
            <a:ext cx="3108960" cy="310896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6" name="QR kód" descr="QR kód na medteam.nervelabs.co.u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0107" y="1543507"/>
            <a:ext cx="2673706" cy="267370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0" y="4617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Vyzkoušejte si demo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5074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medteam.nervelabs.co.uk</a:t>
            </a:r>
            <a:endParaRPr lang="en-US" sz="16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731520" y="416052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ook 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bg1"/>
                </a:solidFill>
              </a:rPr>
              <a:t>Co je MDT</a:t>
            </a:r>
            <a:endParaRPr lang="en-US" sz="3600" dirty="0"/>
          </a:p>
        </p:txBody>
      </p:sp>
      <p:sp>
        <p:nvSpPr>
          <p:cNvPr id="3" name="Karta M"/>
          <p:cNvSpPr/>
          <p:nvPr/>
        </p:nvSpPr>
        <p:spPr>
          <a:xfrm>
            <a:off x="640080" y="1600200"/>
            <a:ext cx="3337560" cy="3840480"/>
          </a:xfrm>
          <a:prstGeom prst="roundRect">
            <a:avLst>
              <a:gd name="adj" fmla="val 3288"/>
            </a:avLst>
          </a:prstGeom>
          <a:solidFill>
            <a:schemeClr val="tx2"/>
          </a:solidFill>
          <a:ln w="12700">
            <a:solidFill>
              <a:schemeClr val="bg2">
                <a:alpha val="28000"/>
              </a:scheme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78308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291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Multi-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9319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více oborů medicíny nad jedním pacientem</a:t>
            </a:r>
            <a:endParaRPr lang="en-US" sz="1800" dirty="0"/>
          </a:p>
        </p:txBody>
      </p:sp>
      <p:sp>
        <p:nvSpPr>
          <p:cNvPr id="7" name="Karta D"/>
          <p:cNvSpPr/>
          <p:nvPr/>
        </p:nvSpPr>
        <p:spPr>
          <a:xfrm>
            <a:off x="4411980" y="1600200"/>
            <a:ext cx="3337560" cy="3840480"/>
          </a:xfrm>
          <a:prstGeom prst="roundRect">
            <a:avLst>
              <a:gd name="adj" fmla="val 3288"/>
            </a:avLst>
          </a:prstGeom>
          <a:solidFill>
            <a:schemeClr val="tx2"/>
          </a:solidFill>
          <a:ln w="12700">
            <a:solidFill>
              <a:schemeClr val="bg2">
                <a:alpha val="2800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77740" y="178308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</a:t>
            </a:r>
            <a:endParaRPr lang="en-US" sz="9600" dirty="0"/>
          </a:p>
        </p:txBody>
      </p:sp>
      <p:sp>
        <p:nvSpPr>
          <p:cNvPr id="9" name="Text 7"/>
          <p:cNvSpPr txBox="1"/>
          <p:nvPr/>
        </p:nvSpPr>
        <p:spPr>
          <a:xfrm>
            <a:off x="4777740" y="3291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disciplinární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4777740" y="39319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každý přináší pohled své specializace</a:t>
            </a:r>
            <a:endParaRPr lang="en-US" sz="1800" dirty="0"/>
          </a:p>
        </p:txBody>
      </p:sp>
      <p:sp>
        <p:nvSpPr>
          <p:cNvPr id="11" name="Karta T"/>
          <p:cNvSpPr/>
          <p:nvPr/>
        </p:nvSpPr>
        <p:spPr>
          <a:xfrm>
            <a:off x="8183880" y="1600200"/>
            <a:ext cx="3337560" cy="3840480"/>
          </a:xfrm>
          <a:prstGeom prst="roundRect">
            <a:avLst>
              <a:gd name="adj" fmla="val 3288"/>
            </a:avLst>
          </a:prstGeom>
          <a:solidFill>
            <a:schemeClr val="tx2"/>
          </a:solidFill>
          <a:ln w="12700">
            <a:solidFill>
              <a:schemeClr val="bg2">
                <a:alpha val="28000"/>
              </a:scheme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49640" y="178308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</a:t>
            </a:r>
            <a:endParaRPr lang="en-US" sz="9600" dirty="0"/>
          </a:p>
        </p:txBody>
      </p:sp>
      <p:sp>
        <p:nvSpPr>
          <p:cNvPr id="13" name="Text 11"/>
          <p:cNvSpPr txBox="1"/>
          <p:nvPr/>
        </p:nvSpPr>
        <p:spPr>
          <a:xfrm>
            <a:off x="8549640" y="3291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tým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8549640" y="39319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jedno společné rozhodnutí o léčbě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6692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V onkologii se MDT říká onkologická komise (tumor board).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bg1"/>
                </a:solidFill>
              </a:rPr>
              <a:t>Fungování MDT v praxi</a:t>
            </a:r>
            <a:endParaRPr lang="en-US" sz="3600" dirty="0"/>
          </a:p>
        </p:txBody>
      </p:sp>
      <p:sp>
        <p:nvSpPr>
          <p:cNvPr id="3" name="Pacient kruh"/>
          <p:cNvSpPr/>
          <p:nvPr/>
        </p:nvSpPr>
        <p:spPr>
          <a:xfrm>
            <a:off x="2926080" y="3291840"/>
            <a:ext cx="1005840" cy="100584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4" name="Pacient ikona" descr="Paci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7482" y="3533242"/>
            <a:ext cx="523037" cy="52303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514600" y="4343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Pacient</a:t>
            </a:r>
            <a:endParaRPr lang="en-US" sz="1400" dirty="0"/>
          </a:p>
        </p:txBody>
      </p:sp>
      <p:sp>
        <p:nvSpPr>
          <p:cNvPr id="6" name="Klinický onkolog kruh"/>
          <p:cNvSpPr/>
          <p:nvPr/>
        </p:nvSpPr>
        <p:spPr>
          <a:xfrm>
            <a:off x="3063240" y="1508760"/>
            <a:ext cx="731520" cy="73152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7" name="Klinický onkolog ikona" descr="Klinický onkol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805" y="1684325"/>
            <a:ext cx="380390" cy="38039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423160" y="2286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Klinický onkolog</a:t>
            </a:r>
            <a:endParaRPr lang="en-US" sz="1400" dirty="0"/>
          </a:p>
        </p:txBody>
      </p:sp>
      <p:sp>
        <p:nvSpPr>
          <p:cNvPr id="9" name="Chirurg kruh"/>
          <p:cNvSpPr/>
          <p:nvPr/>
        </p:nvSpPr>
        <p:spPr>
          <a:xfrm>
            <a:off x="4993481" y="2400300"/>
            <a:ext cx="731520" cy="73152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0" name="Chirurg ikona" descr="Chirur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9046" y="2575865"/>
            <a:ext cx="380390" cy="38039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353401" y="31775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Chirurg</a:t>
            </a:r>
            <a:endParaRPr lang="en-US" sz="1400" dirty="0"/>
          </a:p>
        </p:txBody>
      </p:sp>
      <p:sp>
        <p:nvSpPr>
          <p:cNvPr id="12" name="Radiolog kruh"/>
          <p:cNvSpPr/>
          <p:nvPr/>
        </p:nvSpPr>
        <p:spPr>
          <a:xfrm>
            <a:off x="4993481" y="4183380"/>
            <a:ext cx="731520" cy="73152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3" name="Radiolog ikona" descr="Radiolo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9046" y="4358945"/>
            <a:ext cx="380390" cy="38039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353401" y="49606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Radiolog</a:t>
            </a:r>
            <a:endParaRPr lang="en-US" sz="1400" dirty="0"/>
          </a:p>
        </p:txBody>
      </p:sp>
      <p:sp>
        <p:nvSpPr>
          <p:cNvPr id="15" name="Patolog kruh"/>
          <p:cNvSpPr/>
          <p:nvPr/>
        </p:nvSpPr>
        <p:spPr>
          <a:xfrm>
            <a:off x="3063240" y="5074920"/>
            <a:ext cx="731520" cy="73152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6" name="Patolog ikona" descr="Patolo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8805" y="5250485"/>
            <a:ext cx="380390" cy="38039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2423160" y="5852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Patolog</a:t>
            </a:r>
            <a:endParaRPr lang="en-US" sz="1400" dirty="0"/>
          </a:p>
        </p:txBody>
      </p:sp>
      <p:sp>
        <p:nvSpPr>
          <p:cNvPr id="18" name="Radiační onkolog kruh"/>
          <p:cNvSpPr/>
          <p:nvPr/>
        </p:nvSpPr>
        <p:spPr>
          <a:xfrm>
            <a:off x="1132999" y="4183380"/>
            <a:ext cx="731520" cy="73152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9" name="Radiační onkolog ikona" descr="Radiační onkolo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564" y="4358945"/>
            <a:ext cx="380390" cy="38039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492919" y="49606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Radiační onkolog</a:t>
            </a:r>
            <a:endParaRPr lang="en-US" sz="1400" dirty="0"/>
          </a:p>
        </p:txBody>
      </p:sp>
      <p:sp>
        <p:nvSpPr>
          <p:cNvPr id="21" name="Hlas pacienta kruh"/>
          <p:cNvSpPr/>
          <p:nvPr/>
        </p:nvSpPr>
        <p:spPr>
          <a:xfrm>
            <a:off x="1132999" y="2400300"/>
            <a:ext cx="731520" cy="73152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22" name="Hlas pacienta ikona" descr="Hlas pacienta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8564" y="2575865"/>
            <a:ext cx="380390" cy="38039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492919" y="31775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Hlas pacienta</a:t>
            </a:r>
            <a:endParaRPr lang="en-US" sz="1400" dirty="0"/>
          </a:p>
        </p:txBody>
      </p:sp>
      <p:sp>
        <p:nvSpPr>
          <p:cNvPr id="24" name="Text 15"/>
          <p:cNvSpPr txBox="1"/>
          <p:nvPr/>
        </p:nvSpPr>
        <p:spPr>
          <a:xfrm>
            <a:off x="6949440" y="201168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Parta doktorů se schází, aby společně probrala, co se bude s pacientem dít dál.</a:t>
            </a:r>
            <a:endParaRPr lang="en-US" sz="2800" dirty="0"/>
          </a:p>
        </p:txBody>
      </p:sp>
      <p:sp>
        <p:nvSpPr>
          <p:cNvPr id="25" name="Text 16"/>
          <p:cNvSpPr txBox="1"/>
          <p:nvPr/>
        </p:nvSpPr>
        <p:spPr>
          <a:xfrm>
            <a:off x="6949440" y="420624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Každý vidí jen svou část: snímky, histologii, laboratoř, dotazníky pacienta. Rozhodnutí je ale společné.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bg1"/>
                </a:solidFill>
              </a:rPr>
              <a:t>Jádro problému</a:t>
            </a:r>
            <a:endParaRPr lang="en-US" sz="3600" dirty="0"/>
          </a:p>
        </p:txBody>
      </p:sp>
      <p:sp>
        <p:nvSpPr>
          <p:cNvPr id="3" name="Text 1"/>
          <p:cNvSpPr/>
          <p:nvPr>
            <p:ph idx="103" hasCustomPrompt="1"/>
          </p:nvPr>
        </p:nvSpPr>
        <p:spPr>
          <a:xfrm>
            <a:off x="640080" y="1508760"/>
            <a:ext cx="6766560" cy="4526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4" name="Přeslechnutí kruh"/>
          <p:cNvSpPr/>
          <p:nvPr/>
        </p:nvSpPr>
        <p:spPr>
          <a:xfrm>
            <a:off x="7818120" y="1600200"/>
            <a:ext cx="731520" cy="73152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3"/>
            </a:solidFill>
            <a:prstDash val="solid"/>
          </a:ln>
        </p:spPr>
      </p:sp>
      <p:pic>
        <p:nvPicPr>
          <p:cNvPr id="5" name="Přeslechnutí ikona" descr="Přeslechnutí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3685" y="177576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818120" y="256032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Na plátně je snímek a doktor nahlas čte zprávy.</a:t>
            </a:r>
            <a:endParaRPr lang="en-US" sz="2200" dirty="0"/>
          </a:p>
        </p:txBody>
      </p:sp>
      <p:sp>
        <p:nvSpPr>
          <p:cNvPr id="7" name="Problém"/>
          <p:cNvSpPr/>
          <p:nvPr/>
        </p:nvSpPr>
        <p:spPr>
          <a:xfrm>
            <a:off x="7818120" y="3840480"/>
            <a:ext cx="3730752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9050">
            <a:solidFill>
              <a:schemeClr val="accent3">
                <a:alpha val="60000"/>
              </a:scheme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92440" y="406908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Jakmile něco přeslechneš, jsi ztracen.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bg1"/>
                </a:solidFill>
              </a:rPr>
              <a:t>Prvotní řešení: nápověda v aplikaci</a:t>
            </a:r>
            <a:endParaRPr lang="en-US" sz="3600" dirty="0"/>
          </a:p>
        </p:txBody>
      </p:sp>
      <p:sp>
        <p:nvSpPr>
          <p:cNvPr id="3" name="Hledání kruh"/>
          <p:cNvSpPr/>
          <p:nvPr/>
        </p:nvSpPr>
        <p:spPr>
          <a:xfrm>
            <a:off x="640080" y="1645920"/>
            <a:ext cx="731520" cy="73152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4" name="Hledání ikona" descr="Hledání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645" y="1821485"/>
            <a:ext cx="380390" cy="38039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6060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Nápověda existuje. Stačí se podívat do aplikace.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0233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zprávy a nálezy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laboratoř a snímky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dotazníky pacienta</a:t>
            </a:r>
            <a:endParaRPr lang="en-US" sz="1800" dirty="0"/>
          </a:p>
        </p:txBody>
      </p:sp>
      <p:sp>
        <p:nvSpPr>
          <p:cNvPr id="7" name="Okno aplikace"/>
          <p:cNvSpPr/>
          <p:nvPr/>
        </p:nvSpPr>
        <p:spPr>
          <a:xfrm>
            <a:off x="5852160" y="1600200"/>
            <a:ext cx="5715000" cy="4434840"/>
          </a:xfrm>
          <a:prstGeom prst="roundRect">
            <a:avLst>
              <a:gd name="adj" fmla="val 2474"/>
            </a:avLst>
          </a:prstGeom>
          <a:solidFill>
            <a:schemeClr val="tx2"/>
          </a:solidFill>
          <a:ln w="12700">
            <a:solidFill>
              <a:schemeClr val="bg2">
                <a:alpha val="40000"/>
              </a:schemeClr>
            </a:solidFill>
            <a:prstDash val="solid"/>
          </a:ln>
        </p:spPr>
      </p:sp>
      <p:sp>
        <p:nvSpPr>
          <p:cNvPr id="8" name="Tečka 1"/>
          <p:cNvSpPr/>
          <p:nvPr/>
        </p:nvSpPr>
        <p:spPr>
          <a:xfrm>
            <a:off x="6080760" y="1810512"/>
            <a:ext cx="118872" cy="118872"/>
          </a:xfrm>
          <a:prstGeom prst="ellipse">
            <a:avLst/>
          </a:prstGeom>
          <a:solidFill>
            <a:schemeClr val="bg2">
              <a:alpha val="50000"/>
            </a:schemeClr>
          </a:solidFill>
          <a:ln/>
        </p:spPr>
      </p:sp>
      <p:sp>
        <p:nvSpPr>
          <p:cNvPr id="9" name="Tečka 2"/>
          <p:cNvSpPr/>
          <p:nvPr/>
        </p:nvSpPr>
        <p:spPr>
          <a:xfrm>
            <a:off x="6309360" y="1810512"/>
            <a:ext cx="118872" cy="118872"/>
          </a:xfrm>
          <a:prstGeom prst="ellipse">
            <a:avLst/>
          </a:prstGeom>
          <a:solidFill>
            <a:schemeClr val="bg2">
              <a:alpha val="50000"/>
            </a:schemeClr>
          </a:solidFill>
          <a:ln/>
        </p:spPr>
      </p:sp>
      <p:sp>
        <p:nvSpPr>
          <p:cNvPr id="10" name="Tečka 3"/>
          <p:cNvSpPr/>
          <p:nvPr/>
        </p:nvSpPr>
        <p:spPr>
          <a:xfrm>
            <a:off x="6537960" y="1810512"/>
            <a:ext cx="118872" cy="118872"/>
          </a:xfrm>
          <a:prstGeom prst="ellipse">
            <a:avLst/>
          </a:prstGeom>
          <a:solidFill>
            <a:schemeClr val="bg2">
              <a:alpha val="50000"/>
            </a:schemeClr>
          </a:solidFill>
          <a:ln/>
        </p:spPr>
      </p:sp>
      <p:sp>
        <p:nvSpPr>
          <p:cNvPr id="11" name="Záložka Zprávy"/>
          <p:cNvSpPr/>
          <p:nvPr/>
        </p:nvSpPr>
        <p:spPr>
          <a:xfrm>
            <a:off x="6080760" y="2148840"/>
            <a:ext cx="694944" cy="329184"/>
          </a:xfrm>
          <a:prstGeom prst="roundRect">
            <a:avLst>
              <a:gd name="adj" fmla="val 50000"/>
            </a:avLst>
          </a:prstGeom>
          <a:solidFill>
            <a:schemeClr val="accent1">
              <a:alpha val="25000"/>
            </a:schemeClr>
          </a:solidFill>
          <a:ln w="9525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80760" y="2148840"/>
            <a:ext cx="694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Zprávy</a:t>
            </a:r>
            <a:endParaRPr lang="en-US" sz="1100" dirty="0"/>
          </a:p>
        </p:txBody>
      </p:sp>
      <p:sp>
        <p:nvSpPr>
          <p:cNvPr id="13" name="Záložka Laboratoř"/>
          <p:cNvSpPr/>
          <p:nvPr/>
        </p:nvSpPr>
        <p:spPr>
          <a:xfrm>
            <a:off x="6867144" y="2148840"/>
            <a:ext cx="928116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67144" y="2148840"/>
            <a:ext cx="928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Laboratoř</a:t>
            </a:r>
            <a:endParaRPr lang="en-US" sz="1100" dirty="0"/>
          </a:p>
        </p:txBody>
      </p:sp>
      <p:sp>
        <p:nvSpPr>
          <p:cNvPr id="15" name="Záložka Zobrazování"/>
          <p:cNvSpPr/>
          <p:nvPr/>
        </p:nvSpPr>
        <p:spPr>
          <a:xfrm>
            <a:off x="7886700" y="2148840"/>
            <a:ext cx="1083564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886700" y="2148840"/>
            <a:ext cx="10835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Zobrazování</a:t>
            </a:r>
            <a:endParaRPr lang="en-US" sz="1100" dirty="0"/>
          </a:p>
        </p:txBody>
      </p:sp>
      <p:sp>
        <p:nvSpPr>
          <p:cNvPr id="17" name="Záložka Dotazníky"/>
          <p:cNvSpPr/>
          <p:nvPr/>
        </p:nvSpPr>
        <p:spPr>
          <a:xfrm>
            <a:off x="9061704" y="2148840"/>
            <a:ext cx="928116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061704" y="2148840"/>
            <a:ext cx="928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Dotazníky</a:t>
            </a:r>
            <a:endParaRPr lang="en-US" sz="1100" dirty="0"/>
          </a:p>
        </p:txBody>
      </p:sp>
      <p:sp>
        <p:nvSpPr>
          <p:cNvPr id="19" name="Záložka Medikace"/>
          <p:cNvSpPr/>
          <p:nvPr/>
        </p:nvSpPr>
        <p:spPr>
          <a:xfrm>
            <a:off x="10081260" y="2148840"/>
            <a:ext cx="850392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081260" y="2148840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Medikace</a:t>
            </a:r>
            <a:endParaRPr lang="en-US" sz="1100" dirty="0"/>
          </a:p>
        </p:txBody>
      </p:sp>
      <p:sp>
        <p:nvSpPr>
          <p:cNvPr id="21" name="Řádek 1 popisek"/>
          <p:cNvSpPr/>
          <p:nvPr/>
        </p:nvSpPr>
        <p:spPr>
          <a:xfrm>
            <a:off x="6080760" y="2697480"/>
            <a:ext cx="822960" cy="109728"/>
          </a:xfrm>
          <a:prstGeom prst="roundRect">
            <a:avLst>
              <a:gd name="adj" fmla="val 50000"/>
            </a:avLst>
          </a:prstGeom>
          <a:solidFill>
            <a:schemeClr val="bg1">
              <a:alpha val="18000"/>
            </a:schemeClr>
          </a:solidFill>
          <a:ln/>
        </p:spPr>
      </p:sp>
      <p:sp>
        <p:nvSpPr>
          <p:cNvPr id="22" name="Řádek 1 text"/>
          <p:cNvSpPr/>
          <p:nvPr/>
        </p:nvSpPr>
        <p:spPr>
          <a:xfrm>
            <a:off x="7086600" y="2697480"/>
            <a:ext cx="2011680" cy="109728"/>
          </a:xfrm>
          <a:prstGeom prst="roundRect">
            <a:avLst>
              <a:gd name="adj" fmla="val 50000"/>
            </a:avLst>
          </a:prstGeom>
          <a:solidFill>
            <a:schemeClr val="bg2">
              <a:alpha val="20000"/>
            </a:schemeClr>
          </a:solidFill>
          <a:ln/>
        </p:spPr>
      </p:sp>
      <p:sp>
        <p:nvSpPr>
          <p:cNvPr id="23" name="Řádek 2 popisek"/>
          <p:cNvSpPr/>
          <p:nvPr/>
        </p:nvSpPr>
        <p:spPr>
          <a:xfrm>
            <a:off x="6080760" y="3044952"/>
            <a:ext cx="822960" cy="109728"/>
          </a:xfrm>
          <a:prstGeom prst="roundRect">
            <a:avLst>
              <a:gd name="adj" fmla="val 50000"/>
            </a:avLst>
          </a:prstGeom>
          <a:solidFill>
            <a:schemeClr val="bg1">
              <a:alpha val="18000"/>
            </a:schemeClr>
          </a:solidFill>
          <a:ln/>
        </p:spPr>
      </p:sp>
      <p:sp>
        <p:nvSpPr>
          <p:cNvPr id="24" name="Řádek 2 text"/>
          <p:cNvSpPr/>
          <p:nvPr/>
        </p:nvSpPr>
        <p:spPr>
          <a:xfrm>
            <a:off x="7086600" y="3044952"/>
            <a:ext cx="3291840" cy="109728"/>
          </a:xfrm>
          <a:prstGeom prst="roundRect">
            <a:avLst>
              <a:gd name="adj" fmla="val 50000"/>
            </a:avLst>
          </a:prstGeom>
          <a:solidFill>
            <a:schemeClr val="bg2">
              <a:alpha val="20000"/>
            </a:schemeClr>
          </a:solidFill>
          <a:ln/>
        </p:spPr>
      </p:sp>
      <p:sp>
        <p:nvSpPr>
          <p:cNvPr id="25" name="Řádek 3 popisek"/>
          <p:cNvSpPr/>
          <p:nvPr/>
        </p:nvSpPr>
        <p:spPr>
          <a:xfrm>
            <a:off x="6080760" y="3392424"/>
            <a:ext cx="822960" cy="109728"/>
          </a:xfrm>
          <a:prstGeom prst="roundRect">
            <a:avLst>
              <a:gd name="adj" fmla="val 50000"/>
            </a:avLst>
          </a:prstGeom>
          <a:solidFill>
            <a:schemeClr val="bg1">
              <a:alpha val="18000"/>
            </a:schemeClr>
          </a:solidFill>
          <a:ln/>
        </p:spPr>
      </p:sp>
      <p:sp>
        <p:nvSpPr>
          <p:cNvPr id="26" name="Řádek 3 text"/>
          <p:cNvSpPr/>
          <p:nvPr/>
        </p:nvSpPr>
        <p:spPr>
          <a:xfrm>
            <a:off x="7086600" y="3392424"/>
            <a:ext cx="2468880" cy="109728"/>
          </a:xfrm>
          <a:prstGeom prst="roundRect">
            <a:avLst>
              <a:gd name="adj" fmla="val 50000"/>
            </a:avLst>
          </a:prstGeom>
          <a:solidFill>
            <a:schemeClr val="bg2">
              <a:alpha val="20000"/>
            </a:schemeClr>
          </a:solidFill>
          <a:ln/>
        </p:spPr>
      </p:sp>
      <p:sp>
        <p:nvSpPr>
          <p:cNvPr id="27" name="Řádek 4 popisek"/>
          <p:cNvSpPr/>
          <p:nvPr/>
        </p:nvSpPr>
        <p:spPr>
          <a:xfrm>
            <a:off x="6080760" y="3739896"/>
            <a:ext cx="822960" cy="109728"/>
          </a:xfrm>
          <a:prstGeom prst="roundRect">
            <a:avLst>
              <a:gd name="adj" fmla="val 50000"/>
            </a:avLst>
          </a:prstGeom>
          <a:solidFill>
            <a:schemeClr val="bg1">
              <a:alpha val="18000"/>
            </a:schemeClr>
          </a:solidFill>
          <a:ln/>
        </p:spPr>
      </p:sp>
      <p:sp>
        <p:nvSpPr>
          <p:cNvPr id="28" name="Řádek 4 text"/>
          <p:cNvSpPr/>
          <p:nvPr/>
        </p:nvSpPr>
        <p:spPr>
          <a:xfrm>
            <a:off x="7086600" y="3739896"/>
            <a:ext cx="3749040" cy="109728"/>
          </a:xfrm>
          <a:prstGeom prst="roundRect">
            <a:avLst>
              <a:gd name="adj" fmla="val 50000"/>
            </a:avLst>
          </a:prstGeom>
          <a:solidFill>
            <a:schemeClr val="bg2">
              <a:alpha val="20000"/>
            </a:schemeClr>
          </a:solidFill>
          <a:ln/>
        </p:spPr>
      </p:sp>
      <p:sp>
        <p:nvSpPr>
          <p:cNvPr id="29" name="Řádek 5 popisek"/>
          <p:cNvSpPr/>
          <p:nvPr/>
        </p:nvSpPr>
        <p:spPr>
          <a:xfrm>
            <a:off x="6080760" y="4087368"/>
            <a:ext cx="822960" cy="109728"/>
          </a:xfrm>
          <a:prstGeom prst="roundRect">
            <a:avLst>
              <a:gd name="adj" fmla="val 50000"/>
            </a:avLst>
          </a:prstGeom>
          <a:solidFill>
            <a:schemeClr val="bg1">
              <a:alpha val="18000"/>
            </a:schemeClr>
          </a:solidFill>
          <a:ln/>
        </p:spPr>
      </p:sp>
      <p:sp>
        <p:nvSpPr>
          <p:cNvPr id="30" name="Řádek 5 text"/>
          <p:cNvSpPr/>
          <p:nvPr/>
        </p:nvSpPr>
        <p:spPr>
          <a:xfrm>
            <a:off x="7086600" y="4087368"/>
            <a:ext cx="2926080" cy="109728"/>
          </a:xfrm>
          <a:prstGeom prst="roundRect">
            <a:avLst>
              <a:gd name="adj" fmla="val 50000"/>
            </a:avLst>
          </a:prstGeom>
          <a:solidFill>
            <a:schemeClr val="bg2">
              <a:alpha val="20000"/>
            </a:schemeClr>
          </a:solidFill>
          <a:ln/>
        </p:spPr>
      </p:sp>
      <p:sp>
        <p:nvSpPr>
          <p:cNvPr id="31" name="Řádek 6 popisek"/>
          <p:cNvSpPr/>
          <p:nvPr/>
        </p:nvSpPr>
        <p:spPr>
          <a:xfrm>
            <a:off x="6080760" y="4434840"/>
            <a:ext cx="822960" cy="109728"/>
          </a:xfrm>
          <a:prstGeom prst="roundRect">
            <a:avLst>
              <a:gd name="adj" fmla="val 50000"/>
            </a:avLst>
          </a:prstGeom>
          <a:solidFill>
            <a:schemeClr val="bg1">
              <a:alpha val="18000"/>
            </a:schemeClr>
          </a:solidFill>
          <a:ln/>
        </p:spPr>
      </p:sp>
      <p:sp>
        <p:nvSpPr>
          <p:cNvPr id="32" name="Řádek 6 text"/>
          <p:cNvSpPr/>
          <p:nvPr/>
        </p:nvSpPr>
        <p:spPr>
          <a:xfrm>
            <a:off x="7086600" y="4434840"/>
            <a:ext cx="2103120" cy="109728"/>
          </a:xfrm>
          <a:prstGeom prst="roundRect">
            <a:avLst>
              <a:gd name="adj" fmla="val 50000"/>
            </a:avLst>
          </a:prstGeom>
          <a:solidFill>
            <a:schemeClr val="bg2">
              <a:alpha val="20000"/>
            </a:schemeClr>
          </a:solidFill>
          <a:ln/>
        </p:spPr>
      </p:sp>
      <p:sp>
        <p:nvSpPr>
          <p:cNvPr id="33" name="Řádek 7 popisek"/>
          <p:cNvSpPr/>
          <p:nvPr/>
        </p:nvSpPr>
        <p:spPr>
          <a:xfrm>
            <a:off x="6080760" y="4782312"/>
            <a:ext cx="822960" cy="109728"/>
          </a:xfrm>
          <a:prstGeom prst="roundRect">
            <a:avLst>
              <a:gd name="adj" fmla="val 50000"/>
            </a:avLst>
          </a:prstGeom>
          <a:solidFill>
            <a:schemeClr val="bg1">
              <a:alpha val="18000"/>
            </a:schemeClr>
          </a:solidFill>
          <a:ln/>
        </p:spPr>
      </p:sp>
      <p:sp>
        <p:nvSpPr>
          <p:cNvPr id="34" name="Řádek 7 text"/>
          <p:cNvSpPr/>
          <p:nvPr/>
        </p:nvSpPr>
        <p:spPr>
          <a:xfrm>
            <a:off x="7086600" y="4782312"/>
            <a:ext cx="3383280" cy="109728"/>
          </a:xfrm>
          <a:prstGeom prst="roundRect">
            <a:avLst>
              <a:gd name="adj" fmla="val 50000"/>
            </a:avLst>
          </a:prstGeom>
          <a:solidFill>
            <a:schemeClr val="bg2">
              <a:alpha val="20000"/>
            </a:schemeClr>
          </a:solidFill>
          <a:ln/>
        </p:spPr>
      </p:sp>
      <p:sp>
        <p:nvSpPr>
          <p:cNvPr id="35" name="Řádek 8 popisek"/>
          <p:cNvSpPr/>
          <p:nvPr/>
        </p:nvSpPr>
        <p:spPr>
          <a:xfrm>
            <a:off x="6080760" y="5129784"/>
            <a:ext cx="822960" cy="109728"/>
          </a:xfrm>
          <a:prstGeom prst="roundRect">
            <a:avLst>
              <a:gd name="adj" fmla="val 50000"/>
            </a:avLst>
          </a:prstGeom>
          <a:solidFill>
            <a:schemeClr val="bg1">
              <a:alpha val="18000"/>
            </a:schemeClr>
          </a:solidFill>
          <a:ln/>
        </p:spPr>
      </p:sp>
      <p:sp>
        <p:nvSpPr>
          <p:cNvPr id="36" name="Řádek 8 text"/>
          <p:cNvSpPr/>
          <p:nvPr/>
        </p:nvSpPr>
        <p:spPr>
          <a:xfrm>
            <a:off x="7086600" y="5129784"/>
            <a:ext cx="2560320" cy="109728"/>
          </a:xfrm>
          <a:prstGeom prst="roundRect">
            <a:avLst>
              <a:gd name="adj" fmla="val 50000"/>
            </a:avLst>
          </a:prstGeom>
          <a:solidFill>
            <a:schemeClr val="bg2">
              <a:alpha val="20000"/>
            </a:schemeClr>
          </a:solidFill>
          <a:ln/>
        </p:spPr>
      </p:sp>
      <p:sp>
        <p:nvSpPr>
          <p:cNvPr id="37" name="Řádek 9 popisek"/>
          <p:cNvSpPr/>
          <p:nvPr/>
        </p:nvSpPr>
        <p:spPr>
          <a:xfrm>
            <a:off x="6080760" y="5477256"/>
            <a:ext cx="822960" cy="109728"/>
          </a:xfrm>
          <a:prstGeom prst="roundRect">
            <a:avLst>
              <a:gd name="adj" fmla="val 50000"/>
            </a:avLst>
          </a:prstGeom>
          <a:solidFill>
            <a:schemeClr val="bg1">
              <a:alpha val="18000"/>
            </a:schemeClr>
          </a:solidFill>
          <a:ln/>
        </p:spPr>
      </p:sp>
      <p:sp>
        <p:nvSpPr>
          <p:cNvPr id="38" name="Řádek 9 text"/>
          <p:cNvSpPr/>
          <p:nvPr/>
        </p:nvSpPr>
        <p:spPr>
          <a:xfrm>
            <a:off x="7086600" y="5477256"/>
            <a:ext cx="3840480" cy="109728"/>
          </a:xfrm>
          <a:prstGeom prst="roundRect">
            <a:avLst>
              <a:gd name="adj" fmla="val 50000"/>
            </a:avLst>
          </a:prstGeom>
          <a:solidFill>
            <a:schemeClr val="bg2">
              <a:alpha val="20000"/>
            </a:scheme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bg1"/>
                </a:solidFill>
              </a:rPr>
              <a:t>Úskalí: na hledání není čas</a:t>
            </a:r>
            <a:endParaRPr lang="en-US" sz="3600" dirty="0"/>
          </a:p>
        </p:txBody>
      </p:sp>
      <p:sp>
        <p:nvSpPr>
          <p:cNvPr id="3" name="Čas na pacienta"/>
          <p:cNvSpPr/>
          <p:nvPr/>
        </p:nvSpPr>
        <p:spPr>
          <a:xfrm>
            <a:off x="640080" y="1600200"/>
            <a:ext cx="4937760" cy="4434840"/>
          </a:xfrm>
          <a:prstGeom prst="roundRect">
            <a:avLst>
              <a:gd name="adj" fmla="val 2474"/>
            </a:avLst>
          </a:prstGeom>
          <a:solidFill>
            <a:schemeClr val="tx2"/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4" name="Čas kruh"/>
          <p:cNvSpPr/>
          <p:nvPr/>
        </p:nvSpPr>
        <p:spPr>
          <a:xfrm>
            <a:off x="1005840" y="1920240"/>
            <a:ext cx="731520" cy="73152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3"/>
            </a:solidFill>
            <a:prstDash val="solid"/>
          </a:ln>
        </p:spPr>
      </p:sp>
      <p:pic>
        <p:nvPicPr>
          <p:cNvPr id="5" name="Čas ikona" descr="Č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405" y="209580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05840" y="278892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3–5 min</a:t>
            </a:r>
            <a:endParaRPr lang="en-US" sz="80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4206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na jednoho pacienta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475488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Pět specialistů se za tu dobu musí zorientovat v pacientovi, kterého často vidí poprvé.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172200" y="19202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Tohle všechno už víme.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172200" y="260604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Hledat v aplikaci uprostřed jednání ale nechce nikdo.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6172200" y="42976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Než informaci dohledáš, diskuse už běží dál.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bg1"/>
                </a:solidFill>
              </a:rPr>
              <a:t>Chybí ti informace? </a:t>
            </a:r>
            <a:pPr indent="0" marL="0">
              <a:buNone/>
            </a:pPr>
            <a:r>
              <a:rPr lang="en-US" sz="3600" dirty="0">
                <a:solidFill>
                  <a:schemeClr val="accent2"/>
                </a:solidFill>
              </a:rPr>
              <a:t>Zeptej se AI bota</a:t>
            </a:r>
            <a:endParaRPr lang="en-US" sz="3600" dirty="0"/>
          </a:p>
        </p:txBody>
      </p:sp>
      <p:sp>
        <p:nvSpPr>
          <p:cNvPr id="3" name="Ukázka odpovědi"/>
          <p:cNvSpPr/>
          <p:nvPr/>
        </p:nvSpPr>
        <p:spPr>
          <a:xfrm>
            <a:off x="640080" y="1508760"/>
            <a:ext cx="10881360" cy="265176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15875">
            <a:solidFill>
              <a:schemeClr val="accent2">
                <a:alpha val="50000"/>
              </a:schemeClr>
            </a:solidFill>
            <a:prstDash val="solid"/>
          </a:ln>
        </p:spPr>
      </p:sp>
      <p:pic>
        <p:nvPicPr>
          <p:cNvPr id="4" name="Odpověď AI z aplikace" descr="Skutečná odpověď AI v aplikaci MedTeam s citacemi zdroj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10424160" cy="2286000"/>
          </a:xfrm>
          <a:prstGeom prst="rect">
            <a:avLst/>
          </a:prstGeom>
        </p:spPr>
      </p:pic>
      <p:sp>
        <p:nvSpPr>
          <p:cNvPr id="5" name="Odpoví hned kruh"/>
          <p:cNvSpPr/>
          <p:nvPr/>
        </p:nvSpPr>
        <p:spPr>
          <a:xfrm>
            <a:off x="640080" y="4526280"/>
            <a:ext cx="685800" cy="68580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6" name="Odpoví hned ikona" descr="Odpoví hn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4690872"/>
            <a:ext cx="356616" cy="35661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08760" y="4526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Odpoví hned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1508760" y="4956048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otázka vlastními slovy, odpověď za pár sekund</a:t>
            </a:r>
            <a:endParaRPr lang="en-US" sz="1500" dirty="0"/>
          </a:p>
        </p:txBody>
      </p:sp>
      <p:sp>
        <p:nvSpPr>
          <p:cNvPr id="9" name="Jen z dat pacienta kruh"/>
          <p:cNvSpPr/>
          <p:nvPr/>
        </p:nvSpPr>
        <p:spPr>
          <a:xfrm>
            <a:off x="4297680" y="4526280"/>
            <a:ext cx="685800" cy="68580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0" name="Jen z dat pacienta ikona" descr="Jen z dat pacient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4690872"/>
            <a:ext cx="356616" cy="35661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166360" y="4526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Jen z dat pacienta</a:t>
            </a:r>
            <a:endParaRPr lang="en-US" sz="2000" dirty="0"/>
          </a:p>
        </p:txBody>
      </p:sp>
      <p:sp>
        <p:nvSpPr>
          <p:cNvPr id="12" name="Text 7"/>
          <p:cNvSpPr txBox="1"/>
          <p:nvPr/>
        </p:nvSpPr>
        <p:spPr>
          <a:xfrm>
            <a:off x="5166360" y="4956048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čte z nemocniční databáze InterSystems IRIS (FHIR)</a:t>
            </a:r>
            <a:endParaRPr lang="en-US" sz="1500" dirty="0"/>
          </a:p>
        </p:txBody>
      </p:sp>
      <p:sp>
        <p:nvSpPr>
          <p:cNvPr id="13" name="Každá věta se zdrojem kruh"/>
          <p:cNvSpPr/>
          <p:nvPr/>
        </p:nvSpPr>
        <p:spPr>
          <a:xfrm>
            <a:off x="7955280" y="4526280"/>
            <a:ext cx="685800" cy="68580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4" name="Každá věta se zdrojem ikona" descr="Každá věta se zdroje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4690872"/>
            <a:ext cx="356616" cy="35661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823960" y="4526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Každá věta se zdrojem</a:t>
            </a:r>
            <a:endParaRPr lang="en-US" sz="2000" dirty="0"/>
          </a:p>
        </p:txBody>
      </p:sp>
      <p:sp>
        <p:nvSpPr>
          <p:cNvPr id="16" name="Text 10"/>
          <p:cNvSpPr txBox="1"/>
          <p:nvPr/>
        </p:nvSpPr>
        <p:spPr>
          <a:xfrm>
            <a:off x="8823960" y="4956048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citace a míra shody, ověření jedním klikem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bg1"/>
                </a:solidFill>
              </a:rPr>
              <a:t>Infrastruktura dnes (bez AI)</a:t>
            </a:r>
            <a:endParaRPr lang="en-US" sz="3600" dirty="0"/>
          </a:p>
        </p:txBody>
      </p:sp>
      <p:sp>
        <p:nvSpPr>
          <p:cNvPr id="3" name="NIS · zprávy"/>
          <p:cNvSpPr/>
          <p:nvPr/>
        </p:nvSpPr>
        <p:spPr>
          <a:xfrm>
            <a:off x="640080" y="1600200"/>
            <a:ext cx="265176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bg2">
                <a:alpha val="28000"/>
              </a:schemeClr>
            </a:solidFill>
            <a:prstDash val="solid"/>
          </a:ln>
        </p:spPr>
      </p:sp>
      <p:pic>
        <p:nvPicPr>
          <p:cNvPr id="4" name="NIS · zprávy ikona" descr="NIS · zpráv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819656"/>
            <a:ext cx="429768" cy="4297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6002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NIS · zprávy</a:t>
            </a:r>
            <a:endParaRPr lang="en-US" sz="1500" dirty="0"/>
          </a:p>
        </p:txBody>
      </p:sp>
      <p:sp>
        <p:nvSpPr>
          <p:cNvPr id="6" name="Šipka NIS · zprávy → IRIS"/>
          <p:cNvSpPr/>
          <p:nvPr/>
        </p:nvSpPr>
        <p:spPr>
          <a:xfrm>
            <a:off x="3291840" y="2034540"/>
            <a:ext cx="868680" cy="1440180"/>
          </a:xfrm>
          <a:prstGeom prst="line">
            <a:avLst/>
          </a:prstGeom>
          <a:noFill/>
          <a:ln w="1587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7" name="PACS · snímky"/>
          <p:cNvSpPr/>
          <p:nvPr/>
        </p:nvSpPr>
        <p:spPr>
          <a:xfrm>
            <a:off x="640080" y="2679192"/>
            <a:ext cx="265176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bg2">
                <a:alpha val="28000"/>
              </a:schemeClr>
            </a:solidFill>
            <a:prstDash val="solid"/>
          </a:ln>
        </p:spPr>
      </p:sp>
      <p:pic>
        <p:nvPicPr>
          <p:cNvPr id="8" name="PACS · snímky ikona" descr="PACS · snímk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898648"/>
            <a:ext cx="429768" cy="42976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2679192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PACS · snímky</a:t>
            </a:r>
            <a:endParaRPr lang="en-US" sz="1500" dirty="0"/>
          </a:p>
        </p:txBody>
      </p:sp>
      <p:sp>
        <p:nvSpPr>
          <p:cNvPr id="10" name="Šipka PACS · snímky → IRIS"/>
          <p:cNvSpPr/>
          <p:nvPr/>
        </p:nvSpPr>
        <p:spPr>
          <a:xfrm>
            <a:off x="3291840" y="3113532"/>
            <a:ext cx="868680" cy="361188"/>
          </a:xfrm>
          <a:prstGeom prst="line">
            <a:avLst/>
          </a:prstGeom>
          <a:noFill/>
          <a:ln w="1587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1" name="Laboratoř"/>
          <p:cNvSpPr/>
          <p:nvPr/>
        </p:nvSpPr>
        <p:spPr>
          <a:xfrm>
            <a:off x="640080" y="3758184"/>
            <a:ext cx="265176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bg2">
                <a:alpha val="28000"/>
              </a:schemeClr>
            </a:solidFill>
            <a:prstDash val="solid"/>
          </a:ln>
        </p:spPr>
      </p:sp>
      <p:pic>
        <p:nvPicPr>
          <p:cNvPr id="12" name="Laboratoř ikona" descr="Laboratoř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977640"/>
            <a:ext cx="429768" cy="42976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758184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Laboratoř</a:t>
            </a:r>
            <a:endParaRPr lang="en-US" sz="1500" dirty="0"/>
          </a:p>
        </p:txBody>
      </p:sp>
      <p:sp>
        <p:nvSpPr>
          <p:cNvPr id="14" name="Šipka Laboratoř → IRIS"/>
          <p:cNvSpPr/>
          <p:nvPr/>
        </p:nvSpPr>
        <p:spPr>
          <a:xfrm flipV="1">
            <a:off x="3291840" y="3474720"/>
            <a:ext cx="868680" cy="717804"/>
          </a:xfrm>
          <a:prstGeom prst="line">
            <a:avLst/>
          </a:prstGeom>
          <a:noFill/>
          <a:ln w="1587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5" name="Dotazníky pacienta"/>
          <p:cNvSpPr/>
          <p:nvPr/>
        </p:nvSpPr>
        <p:spPr>
          <a:xfrm>
            <a:off x="640080" y="4837176"/>
            <a:ext cx="265176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bg2">
                <a:alpha val="28000"/>
              </a:schemeClr>
            </a:solidFill>
            <a:prstDash val="solid"/>
          </a:ln>
        </p:spPr>
      </p:sp>
      <p:pic>
        <p:nvPicPr>
          <p:cNvPr id="16" name="Dotazníky pacienta ikona" descr="Dotazníky pacient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5056632"/>
            <a:ext cx="429768" cy="42976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17320" y="4837176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Dotazníky pacienta</a:t>
            </a:r>
            <a:endParaRPr lang="en-US" sz="1500" dirty="0"/>
          </a:p>
        </p:txBody>
      </p:sp>
      <p:sp>
        <p:nvSpPr>
          <p:cNvPr id="18" name="Šipka Dotazníky pacienta → IRIS"/>
          <p:cNvSpPr/>
          <p:nvPr/>
        </p:nvSpPr>
        <p:spPr>
          <a:xfrm flipV="1">
            <a:off x="3291840" y="3474720"/>
            <a:ext cx="868680" cy="1796796"/>
          </a:xfrm>
          <a:prstGeom prst="line">
            <a:avLst/>
          </a:prstGeom>
          <a:noFill/>
          <a:ln w="1587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9" name="IRIS"/>
          <p:cNvSpPr/>
          <p:nvPr/>
        </p:nvSpPr>
        <p:spPr>
          <a:xfrm>
            <a:off x="4160520" y="2331720"/>
            <a:ext cx="265176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 w="22225">
            <a:solidFill>
              <a:schemeClr val="accent1">
                <a:alpha val="80000"/>
              </a:schemeClr>
            </a:solidFill>
            <a:prstDash val="solid"/>
          </a:ln>
        </p:spPr>
      </p:sp>
      <p:pic>
        <p:nvPicPr>
          <p:cNvPr id="20" name="IRIS ikona" descr="IRI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2606040"/>
            <a:ext cx="548640" cy="54864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297680" y="32461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InterSystems IRIS for Health</a:t>
            </a:r>
            <a:endParaRPr lang="en-US" sz="1800" dirty="0"/>
          </a:p>
        </p:txBody>
      </p:sp>
      <p:sp>
        <p:nvSpPr>
          <p:cNvPr id="22" name="Text 15"/>
          <p:cNvSpPr txBox="1"/>
          <p:nvPr/>
        </p:nvSpPr>
        <p:spPr>
          <a:xfrm>
            <a:off x="4297680" y="3931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FHIR R4 · jeden zdroj dat pacienta</a:t>
            </a:r>
            <a:endParaRPr lang="en-US" sz="1400" dirty="0"/>
          </a:p>
        </p:txBody>
      </p:sp>
      <p:sp>
        <p:nvSpPr>
          <p:cNvPr id="23" name="MedTeam"/>
          <p:cNvSpPr/>
          <p:nvPr/>
        </p:nvSpPr>
        <p:spPr>
          <a:xfrm>
            <a:off x="7315200" y="2331720"/>
            <a:ext cx="1828800" cy="22860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12700">
            <a:solidFill>
              <a:schemeClr val="bg2">
                <a:alpha val="40000"/>
              </a:schemeClr>
            </a:solidFill>
            <a:prstDash val="solid"/>
          </a:ln>
        </p:spPr>
      </p:sp>
      <p:pic>
        <p:nvPicPr>
          <p:cNvPr id="24" name="MedTeam ikona" descr="MedTeam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0" y="2606040"/>
            <a:ext cx="548640" cy="54864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452360" y="32461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MedTeam</a:t>
            </a:r>
            <a:endParaRPr lang="en-US" sz="1800" dirty="0"/>
          </a:p>
        </p:txBody>
      </p:sp>
      <p:sp>
        <p:nvSpPr>
          <p:cNvPr id="26" name="Text 18"/>
          <p:cNvSpPr txBox="1"/>
          <p:nvPr/>
        </p:nvSpPr>
        <p:spPr>
          <a:xfrm>
            <a:off x="7452360" y="39319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webová aplikace</a:t>
            </a:r>
            <a:endParaRPr lang="en-US" sz="1400" dirty="0"/>
          </a:p>
        </p:txBody>
      </p:sp>
      <p:sp>
        <p:nvSpPr>
          <p:cNvPr id="27" name="Komise"/>
          <p:cNvSpPr/>
          <p:nvPr/>
        </p:nvSpPr>
        <p:spPr>
          <a:xfrm>
            <a:off x="9646920" y="2331720"/>
            <a:ext cx="1874520" cy="2286000"/>
          </a:xfrm>
          <a:prstGeom prst="roundRect">
            <a:avLst>
              <a:gd name="adj" fmla="val 5854"/>
            </a:avLst>
          </a:prstGeom>
          <a:solidFill>
            <a:schemeClr val="tx2"/>
          </a:solidFill>
          <a:ln w="12700">
            <a:solidFill>
              <a:schemeClr val="bg2">
                <a:alpha val="40000"/>
              </a:schemeClr>
            </a:solidFill>
            <a:prstDash val="solid"/>
          </a:ln>
        </p:spPr>
      </p:sp>
      <p:pic>
        <p:nvPicPr>
          <p:cNvPr id="28" name="Komise ikona" descr="Komis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09860" y="2606040"/>
            <a:ext cx="548640" cy="54864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9784080" y="32461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Komise</a:t>
            </a:r>
            <a:endParaRPr lang="en-US" sz="1800" dirty="0"/>
          </a:p>
        </p:txBody>
      </p:sp>
      <p:sp>
        <p:nvSpPr>
          <p:cNvPr id="30" name="Text 21"/>
          <p:cNvSpPr txBox="1"/>
          <p:nvPr/>
        </p:nvSpPr>
        <p:spPr>
          <a:xfrm>
            <a:off x="9784080" y="39319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notebook předsedy + plátno</a:t>
            </a:r>
            <a:endParaRPr lang="en-US" sz="1400" dirty="0"/>
          </a:p>
        </p:txBody>
      </p:sp>
      <p:sp>
        <p:nvSpPr>
          <p:cNvPr id="31" name="Spojení 1"/>
          <p:cNvSpPr/>
          <p:nvPr/>
        </p:nvSpPr>
        <p:spPr>
          <a:xfrm>
            <a:off x="6812280" y="3474720"/>
            <a:ext cx="502920" cy="0"/>
          </a:xfrm>
          <a:prstGeom prst="line">
            <a:avLst/>
          </a:prstGeom>
          <a:noFill/>
          <a:ln w="1587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32" name="Spojení 2"/>
          <p:cNvSpPr/>
          <p:nvPr/>
        </p:nvSpPr>
        <p:spPr>
          <a:xfrm>
            <a:off x="9144000" y="3474720"/>
            <a:ext cx="502920" cy="0"/>
          </a:xfrm>
          <a:prstGeom prst="line">
            <a:avLst/>
          </a:prstGeom>
          <a:noFill/>
          <a:ln w="1587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33" name="Text 24"/>
          <p:cNvSpPr txBox="1"/>
          <p:nvPr/>
        </p:nvSpPr>
        <p:spPr>
          <a:xfrm>
            <a:off x="4160520" y="5074920"/>
            <a:ext cx="7360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Data pacienta zůstávají v nemocnici. MedTeam čte jen z IRIS a potvrzený závěr zapisuje zpět.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bg1"/>
                </a:solidFill>
              </a:rPr>
              <a:t>AI server a živá ukázka</a:t>
            </a:r>
            <a:endParaRPr lang="en-US" sz="3600" dirty="0"/>
          </a:p>
        </p:txBody>
      </p:sp>
      <p:sp>
        <p:nvSpPr>
          <p:cNvPr id="3" name="Text 1"/>
          <p:cNvSpPr/>
          <p:nvPr>
            <p:ph idx="103" hasCustomPrompt="1"/>
          </p:nvPr>
        </p:nvSpPr>
        <p:spPr>
          <a:xfrm>
            <a:off x="640080" y="1508760"/>
            <a:ext cx="530352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4" name="Text 1"/>
          <p:cNvSpPr/>
          <p:nvPr>
            <p:ph idx="104" hasCustomPrompt="1"/>
          </p:nvPr>
        </p:nvSpPr>
        <p:spPr>
          <a:xfrm>
            <a:off x="6245352" y="1508760"/>
            <a:ext cx="530352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13892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AI server v serverovně nemocnice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245352" y="513892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Raspberry Pi: praktická ukázka</a:t>
            </a:r>
            <a:endParaRPr lang="en-US" sz="1800" dirty="0"/>
          </a:p>
        </p:txBody>
      </p:sp>
      <p:pic>
        <p:nvPicPr>
          <p:cNvPr id="7" name="Ochrana dat ikona" descr="Ochrana d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632704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60704" y="559612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Model běží v nemocnici, data pacienta ji neopustí.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bg1"/>
                </a:solidFill>
              </a:rPr>
              <a:t>Celý proces od zprávy po zápis</a:t>
            </a:r>
            <a:endParaRPr lang="en-US" sz="3600" dirty="0"/>
          </a:p>
        </p:txBody>
      </p:sp>
      <p:sp>
        <p:nvSpPr>
          <p:cNvPr id="3" name="Osa procesu"/>
          <p:cNvSpPr/>
          <p:nvPr/>
        </p:nvSpPr>
        <p:spPr>
          <a:xfrm>
            <a:off x="1417320" y="2606040"/>
            <a:ext cx="9326880" cy="0"/>
          </a:xfrm>
          <a:prstGeom prst="line">
            <a:avLst/>
          </a:prstGeom>
          <a:noFill/>
          <a:ln w="12700">
            <a:solidFill>
              <a:schemeClr val="bg2">
                <a:alpha val="50000"/>
              </a:schemeClr>
            </a:solidFill>
            <a:prstDash val="solid"/>
          </a:ln>
        </p:spPr>
      </p:sp>
      <p:sp>
        <p:nvSpPr>
          <p:cNvPr id="4" name="Zprávy, nálezy, dotazníky kruh"/>
          <p:cNvSpPr/>
          <p:nvPr/>
        </p:nvSpPr>
        <p:spPr>
          <a:xfrm>
            <a:off x="978408" y="2167128"/>
            <a:ext cx="877824" cy="877824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5" name="Zprávy, nálezy, dotazníky ikona" descr="Zprávy, nálezy, dotazník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9086" y="2377806"/>
            <a:ext cx="456468" cy="4564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200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566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Zprávy, nálezy, dotazníky</a:t>
            </a:r>
            <a:endParaRPr lang="en-US" sz="1500" dirty="0"/>
          </a:p>
        </p:txBody>
      </p:sp>
      <p:sp>
        <p:nvSpPr>
          <p:cNvPr id="8" name="IRIS · FHIR databáze kruh"/>
          <p:cNvSpPr/>
          <p:nvPr/>
        </p:nvSpPr>
        <p:spPr>
          <a:xfrm>
            <a:off x="2532888" y="2167128"/>
            <a:ext cx="877824" cy="877824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9" name="IRIS · FHIR databáze ikona" descr="IRIS · FHIR databáz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566" y="2377806"/>
            <a:ext cx="456468" cy="45646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514600" y="3200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2240280" y="3566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IRIS · FHIR databáze</a:t>
            </a:r>
            <a:endParaRPr lang="en-US" sz="1500" dirty="0"/>
          </a:p>
        </p:txBody>
      </p:sp>
      <p:sp>
        <p:nvSpPr>
          <p:cNvPr id="12" name="AI podklad s citacemi kruh"/>
          <p:cNvSpPr/>
          <p:nvPr/>
        </p:nvSpPr>
        <p:spPr>
          <a:xfrm>
            <a:off x="4087368" y="2167128"/>
            <a:ext cx="877824" cy="877824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13" name="AI podklad s citacemi ikona" descr="AI podklad s citacem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046" y="2377806"/>
            <a:ext cx="456468" cy="45646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069080" y="3200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3794760" y="3566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AI podklad s citacemi</a:t>
            </a:r>
            <a:endParaRPr lang="en-US" sz="1500" dirty="0"/>
          </a:p>
        </p:txBody>
      </p:sp>
      <p:sp>
        <p:nvSpPr>
          <p:cNvPr id="16" name="Jednání: plátno, chat, AI bot kruh"/>
          <p:cNvSpPr/>
          <p:nvPr/>
        </p:nvSpPr>
        <p:spPr>
          <a:xfrm>
            <a:off x="5641848" y="2167128"/>
            <a:ext cx="877824" cy="877824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7" name="Jednání: plátno, chat, AI bot ikona" descr="Jednání: plátno, chat, AI bo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526" y="2377806"/>
            <a:ext cx="456468" cy="45646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623560" y="3200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5349240" y="3566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Jednání: plátno, chat, AI bot</a:t>
            </a:r>
            <a:endParaRPr lang="en-US" sz="1500" dirty="0"/>
          </a:p>
        </p:txBody>
      </p:sp>
      <p:sp>
        <p:nvSpPr>
          <p:cNvPr id="20" name="AI zapisovatel kruh"/>
          <p:cNvSpPr/>
          <p:nvPr/>
        </p:nvSpPr>
        <p:spPr>
          <a:xfrm>
            <a:off x="7196328" y="2167128"/>
            <a:ext cx="877824" cy="877824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21" name="AI zapisovatel ikona" descr="AI zapisovate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7006" y="2377806"/>
            <a:ext cx="456468" cy="45646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178040" y="3200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6903720" y="3566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AI zapisovatel</a:t>
            </a:r>
            <a:endParaRPr lang="en-US" sz="1500" dirty="0"/>
          </a:p>
        </p:txBody>
      </p:sp>
      <p:sp>
        <p:nvSpPr>
          <p:cNvPr id="24" name="Lékař potvrdí kruh"/>
          <p:cNvSpPr/>
          <p:nvPr/>
        </p:nvSpPr>
        <p:spPr>
          <a:xfrm>
            <a:off x="8750808" y="2167128"/>
            <a:ext cx="877824" cy="877824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25" name="Lékař potvrdí ikona" descr="Lékař potvrdí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486" y="2377806"/>
            <a:ext cx="456468" cy="45646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732520" y="3200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6</a:t>
            </a:r>
            <a:endParaRPr lang="en-US" sz="1600" dirty="0"/>
          </a:p>
        </p:txBody>
      </p:sp>
      <p:sp>
        <p:nvSpPr>
          <p:cNvPr id="27" name="Text 19"/>
          <p:cNvSpPr txBox="1"/>
          <p:nvPr/>
        </p:nvSpPr>
        <p:spPr>
          <a:xfrm>
            <a:off x="8458200" y="3566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Lékař potvrdí</a:t>
            </a:r>
            <a:endParaRPr lang="en-US" sz="1500" dirty="0"/>
          </a:p>
        </p:txBody>
      </p:sp>
      <p:sp>
        <p:nvSpPr>
          <p:cNvPr id="28" name="Zápis do IRIS a export kruh"/>
          <p:cNvSpPr/>
          <p:nvPr/>
        </p:nvSpPr>
        <p:spPr>
          <a:xfrm>
            <a:off x="10305288" y="2167128"/>
            <a:ext cx="877824" cy="877824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29" name="Zápis do IRIS a export ikona" descr="Zápis do IRIS a expor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966" y="2377806"/>
            <a:ext cx="456468" cy="456468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0287000" y="3200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7</a:t>
            </a:r>
            <a:endParaRPr lang="en-US" sz="1600" dirty="0"/>
          </a:p>
        </p:txBody>
      </p:sp>
      <p:sp>
        <p:nvSpPr>
          <p:cNvPr id="31" name="Text 22"/>
          <p:cNvSpPr txBox="1"/>
          <p:nvPr/>
        </p:nvSpPr>
        <p:spPr>
          <a:xfrm>
            <a:off x="10012680" y="3566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Zápis do IRIS a export</a:t>
            </a:r>
            <a:endParaRPr lang="en-US" sz="1500" dirty="0"/>
          </a:p>
        </p:txBody>
      </p:sp>
      <p:sp>
        <p:nvSpPr>
          <p:cNvPr id="32" name="Legenda"/>
          <p:cNvSpPr/>
          <p:nvPr/>
        </p:nvSpPr>
        <p:spPr>
          <a:xfrm>
            <a:off x="640080" y="4892040"/>
            <a:ext cx="1088136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chemeClr val="bg2">
                <a:alpha val="28000"/>
              </a:schemeClr>
            </a:solidFill>
            <a:prstDash val="solid"/>
          </a:ln>
        </p:spPr>
      </p:sp>
      <p:sp>
        <p:nvSpPr>
          <p:cNvPr id="33" name="Legenda AI"/>
          <p:cNvSpPr/>
          <p:nvPr/>
        </p:nvSpPr>
        <p:spPr>
          <a:xfrm>
            <a:off x="914400" y="5285232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4" name="Text 25"/>
          <p:cNvSpPr txBox="1"/>
          <p:nvPr/>
        </p:nvSpPr>
        <p:spPr>
          <a:xfrm>
            <a:off x="1280160" y="51937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AI navrhuje</a:t>
            </a:r>
            <a:endParaRPr lang="en-US" sz="1600" dirty="0"/>
          </a:p>
        </p:txBody>
      </p:sp>
      <p:sp>
        <p:nvSpPr>
          <p:cNvPr id="35" name="Legenda lékař"/>
          <p:cNvSpPr/>
          <p:nvPr/>
        </p:nvSpPr>
        <p:spPr>
          <a:xfrm>
            <a:off x="3383280" y="5285232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6" name="Text 27"/>
          <p:cNvSpPr txBox="1"/>
          <p:nvPr/>
        </p:nvSpPr>
        <p:spPr>
          <a:xfrm>
            <a:off x="3749040" y="51937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data a lékař</a:t>
            </a:r>
            <a:endParaRPr lang="en-US" sz="1600" dirty="0"/>
          </a:p>
        </p:txBody>
      </p:sp>
      <p:sp>
        <p:nvSpPr>
          <p:cNvPr id="37" name="Text 28"/>
          <p:cNvSpPr txBox="1"/>
          <p:nvPr/>
        </p:nvSpPr>
        <p:spPr>
          <a:xfrm>
            <a:off x="6035040" y="519379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Oficiální je až to, co potvrdí lékař.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chemeClr val="bg1"/>
                </a:solidFill>
              </a:rPr>
              <a:t>Náš tým</a:t>
            </a:r>
            <a:endParaRPr lang="en-US" sz="3600" dirty="0"/>
          </a:p>
        </p:txBody>
      </p:sp>
      <p:sp>
        <p:nvSpPr>
          <p:cNvPr id="3" name="Text 1"/>
          <p:cNvSpPr/>
          <p:nvPr>
            <p:ph idx="103" hasCustomPrompt="1"/>
          </p:nvPr>
        </p:nvSpPr>
        <p:spPr>
          <a:xfrm>
            <a:off x="640080" y="160020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Seb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6817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infrastruktura a API</a:t>
            </a:r>
            <a:endParaRPr lang="en-US" sz="1600" dirty="0"/>
          </a:p>
        </p:txBody>
      </p:sp>
      <p:sp>
        <p:nvSpPr>
          <p:cNvPr id="6" name="Text 1"/>
          <p:cNvSpPr/>
          <p:nvPr>
            <p:ph idx="104" hasCustomPrompt="1"/>
          </p:nvPr>
        </p:nvSpPr>
        <p:spPr>
          <a:xfrm>
            <a:off x="3474720" y="160020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4206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Maty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46817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data a InterSystems IRIS</a:t>
            </a:r>
            <a:endParaRPr lang="en-US" sz="1600" dirty="0"/>
          </a:p>
        </p:txBody>
      </p:sp>
      <p:sp>
        <p:nvSpPr>
          <p:cNvPr id="9" name="Text 1"/>
          <p:cNvSpPr/>
          <p:nvPr>
            <p:ph idx="105" hasCustomPrompt="1"/>
          </p:nvPr>
        </p:nvSpPr>
        <p:spPr>
          <a:xfrm>
            <a:off x="6309360" y="160020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4206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Jarda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46817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AI</a:t>
            </a:r>
            <a:endParaRPr lang="en-US" sz="1600" dirty="0"/>
          </a:p>
        </p:txBody>
      </p:sp>
      <p:sp>
        <p:nvSpPr>
          <p:cNvPr id="12" name="Text 1"/>
          <p:cNvSpPr/>
          <p:nvPr>
            <p:ph idx="106" hasCustomPrompt="1"/>
          </p:nvPr>
        </p:nvSpPr>
        <p:spPr>
          <a:xfrm>
            <a:off x="9144000" y="160020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0" y="4206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Mira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0" y="46817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UI a pitch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MedTeam" descr="MedTe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97280"/>
            <a:ext cx="5486400" cy="181051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416052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chemeClr val="bg1"/>
                </a:solidFill>
              </a:rPr>
              <a:t>Děkujeme za pozornost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52120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AI předkládá. </a:t>
            </a:r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Lékař rozhoduje.</a:t>
            </a:r>
            <a:endParaRPr lang="en-US" sz="2600" dirty="0"/>
          </a:p>
        </p:txBody>
      </p:sp>
      <p:sp>
        <p:nvSpPr>
          <p:cNvPr id="5" name="QR karta"/>
          <p:cNvSpPr/>
          <p:nvPr/>
        </p:nvSpPr>
        <p:spPr>
          <a:xfrm>
            <a:off x="8412480" y="1325880"/>
            <a:ext cx="3108960" cy="310896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6" name="QR kód" descr="QR kód na medteam.nervelabs.co.u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0107" y="1543507"/>
            <a:ext cx="2673706" cy="267370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0" y="4617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Vyzkoušejte si demo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5074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medteam.nervelabs.co.uk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Team">
  <a:themeElements>
    <a:clrScheme name="MedTeam">
      <a:dk1>
        <a:srgbClr val="0B1118"/>
      </a:dk1>
      <a:lt1>
        <a:srgbClr val="F1F5F9"/>
      </a:lt1>
      <a:dk2>
        <a:srgbClr val="111A24"/>
      </a:dk2>
      <a:lt2>
        <a:srgbClr val="94A3B8"/>
      </a:lt2>
      <a:accent1>
        <a:srgbClr val="2DD4BF"/>
      </a:accent1>
      <a:accent2>
        <a:srgbClr val="A78BFA"/>
      </a:accent2>
      <a:accent3>
        <a:srgbClr val="FBBF24"/>
      </a:accent3>
      <a:accent4>
        <a:srgbClr val="F87171"/>
      </a:accent4>
      <a:accent5>
        <a:srgbClr val="C8102E"/>
      </a:accent5>
      <a:accent6>
        <a:srgbClr val="3FB4C0"/>
      </a:accent6>
      <a:hlink>
        <a:srgbClr val="2DD4BF"/>
      </a:hlink>
      <a:folHlink>
        <a:srgbClr val="A78BFA"/>
      </a:folHlink>
    </a:clrScheme>
    <a:fontScheme name="MedTeam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MedTeam · MDT Copilot · Rakathon 2026</dc:title>
  <dc:subject>PptxGenJS Presentation</dc:subject>
  <dc:creator>Tým MedTeam</dc:creator>
  <cp:lastModifiedBy>Tým MedTeam</cp:lastModifiedBy>
  <cp:revision>1</cp:revision>
  <dcterms:created xsi:type="dcterms:W3CDTF">2026-10-18T09:39:15Z</dcterms:created>
  <dcterms:modified xsi:type="dcterms:W3CDTF">2026-10-18T09:39:15Z</dcterms:modified>
</cp:coreProperties>
</file>