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7187f770-69a1-1a95-d128-28334416872a}">
          <p14:sldIdLst>
            <p14:sldId id="256"/>
            <p14:sldId id="257"/>
          </p14:sldIdLst>
        </p14:section>
        <p14:section name="Problém" id="{7a4eccbd-30eb-4f56-2dee-b191b03a194d}">
          <p14:sldIdLst>
            <p14:sldId id="258"/>
            <p14:sldId id="259"/>
            <p14:sldId id="260"/>
            <p14:sldId id="261"/>
            <p14:sldId id="262"/>
          </p14:sldIdLst>
        </p14:section>
        <p14:section name="Řešení" id="{f475da87-7848-f187-d86b-3db17ce21f1f}">
          <p14:sldIdLst>
            <p14:sldId id="263"/>
            <p14:sldId id="264"/>
            <p14:sldId id="265"/>
            <p14:sldId id="266"/>
          </p14:sldIdLst>
        </p14:section>
        <p14:section name="Tým a závěr" id="{82a671c5-0a89-f98c-c172-e5a923daa01a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Svítí, než začneme prezentovat (publikum si může naskenovat QR a vyzkoušet demo). Pak přejít na slide 2 s hookem a teprve po něm začít mluvit.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(30 s). V PowerPointu: vyberte video → Přehrávání → Spustit: Automaticky (ať se spustí hned po přechodu na slide). Během videa nemluvíme, začínáme až po logu.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MDT = multidisciplinární tým. V onkologii jde o komisi, kde se specialisté z různých oborů společně rozhodnou o léčbě pacienta s nádorem.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 to funguje: u jednoho stolu sedí onkolog, chirurg, radiolog, patolog, radiační onkolog a hlas pacienta (dotazníky). Probírají pacienta po pacientovi a rozhodují, co bude dál.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Fotka z jednání: na tabuli snímek, doktor čte zprávy. Problém: jakmile něco přeslechneš, jsi ztracen. A zeptat se znovu znamená zdržet celou komisi.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Prvotní řešení: všechno je někde v aplikaci, zprávy, laboratoř, snímky, dotazníky. Stačí se podívat.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všechno už víme. Ale hledat v aplikaci není to, co v tu chvíli chceš dělat. Komise má na pacienta 3 až 5 minut, na proklikávání prostě není čas.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Hlavní řešení: chybí ti informace? Zeptej se našeho AI bota. Odpoví okamžitě, jen z dat pacienta v nemocniční databázi, a každá věta má citaci zdroje. Na obrazovce je skutečná odpověď z aplikace.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Aktuální síť bez AI: nemocniční systémy (NIS, PACS, laboratoř, dotazníky) → InterSystems IRIS for Health jako FHIR databáze → aplikace MedTeam → komise (notebook předsedy a plátno).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server stojí v serverovně nemocnice, data neopouštějí nemocnici. Praktická ukázka na Raspberry Pi: zároveň kontrola, že je celý princip pochopitelný.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Celý tok dat: zprávy a dotazníky → databáze IRIS (FHIR) → AI připraví podklad s citacemi → jednání komise (plátno, chat, AI bot) → AI zapisovatel z diskuse → lékař potvrdí → zápis zpět do IRIS a export (PDF, FHIR).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Představení týmu. Fotky vložíte kliknutím na ikonu obrázku v rámečku (doplní se a ořízne samy).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Poděkování. QR kód zůstává na plátně během otázek.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PHOTO1-image-2.jpe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PHOTO2-image-2.jpe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TEAM4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6052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type="pic" idx="103" hasCustomPrompt="1"/>
          </p:nvPr>
        </p:nvSpPr>
        <p:spPr>
          <a:xfrm>
            <a:off x="640080" y="1508760"/>
            <a:ext cx="676656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Vložte fotku z jednání komise (snímek na plátně, lékař čte zprávy)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type="pic" idx="103" hasCustomPrompt="1"/>
          </p:nvPr>
        </p:nvSpPr>
        <p:spPr>
          <a:xfrm>
            <a:off x="640080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Vložte fotku AI serveru</a:t>
            </a:r>
            <a:endParaRPr lang="en-US" sz="1600" dirty="0"/>
          </a:p>
        </p:txBody>
      </p:sp>
      <p:sp>
        <p:nvSpPr>
          <p:cNvPr id="6" name="Text 1"/>
          <p:cNvSpPr/>
          <p:nvPr>
            <p:ph type="pic" idx="104" hasCustomPrompt="1"/>
          </p:nvPr>
        </p:nvSpPr>
        <p:spPr>
          <a:xfrm>
            <a:off x="6245352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Vložte fotku Raspberry Pi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type="pic" idx="103" hasCustomPrompt="1"/>
          </p:nvPr>
        </p:nvSpPr>
        <p:spPr>
          <a:xfrm>
            <a:off x="64008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6" name="Text 1"/>
          <p:cNvSpPr/>
          <p:nvPr>
            <p:ph type="pic" idx="104" hasCustomPrompt="1"/>
          </p:nvPr>
        </p:nvSpPr>
        <p:spPr>
          <a:xfrm>
            <a:off x="347472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7" name="Text 1"/>
          <p:cNvSpPr/>
          <p:nvPr>
            <p:ph type="pic" idx="105" hasCustomPrompt="1"/>
          </p:nvPr>
        </p:nvSpPr>
        <p:spPr>
          <a:xfrm>
            <a:off x="630936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8" name="Text 1"/>
          <p:cNvSpPr/>
          <p:nvPr>
            <p:ph type="pic" idx="106" hasCustomPrompt="1"/>
          </p:nvPr>
        </p:nvSpPr>
        <p:spPr>
          <a:xfrm>
            <a:off x="914400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edTeam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6583680" cy="21762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8680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MDT Copilot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· podklady pro onkologickou komisi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Rakathon 2026 · výzva Asseco CE · InterSystems IRIS for Health</a:t>
            </a:r>
            <a:endParaRPr lang="en-US" sz="1400" dirty="0"/>
          </a:p>
        </p:txBody>
      </p:sp>
      <p:sp>
        <p:nvSpPr>
          <p:cNvPr id="5" name="QR karta"/>
          <p:cNvSpPr/>
          <p:nvPr/>
        </p:nvSpPr>
        <p:spPr>
          <a:xfrm>
            <a:off x="8412480" y="132588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6" name="QR kód" descr="QR kód na medteam.nervelabs.co.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107" y="1543507"/>
            <a:ext cx="2673706" cy="26737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0" y="4617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Vyzkoušejte si demo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medteam.nervelabs.co.uk</a:t>
            </a:r>
            <a:endParaRPr lang="en-US" sz="16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41605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ook 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Co je MDT</a:t>
            </a:r>
            <a:endParaRPr lang="en-US" sz="3600" dirty="0"/>
          </a:p>
        </p:txBody>
      </p:sp>
      <p:sp>
        <p:nvSpPr>
          <p:cNvPr id="3" name="Karta M"/>
          <p:cNvSpPr/>
          <p:nvPr/>
        </p:nvSpPr>
        <p:spPr>
          <a:xfrm>
            <a:off x="640080" y="1600200"/>
            <a:ext cx="3337560" cy="384048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Multi-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více oborů medicíny nad jedním pacientem</a:t>
            </a:r>
            <a:endParaRPr lang="en-US" sz="1800" dirty="0"/>
          </a:p>
        </p:txBody>
      </p:sp>
      <p:sp>
        <p:nvSpPr>
          <p:cNvPr id="7" name="Karta D"/>
          <p:cNvSpPr/>
          <p:nvPr/>
        </p:nvSpPr>
        <p:spPr>
          <a:xfrm>
            <a:off x="4411980" y="1600200"/>
            <a:ext cx="3337560" cy="384048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7774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endParaRPr lang="en-US" sz="9600" dirty="0"/>
          </a:p>
        </p:txBody>
      </p:sp>
      <p:sp>
        <p:nvSpPr>
          <p:cNvPr id="9" name="Text 7"/>
          <p:cNvSpPr txBox="1"/>
          <p:nvPr/>
        </p:nvSpPr>
        <p:spPr>
          <a:xfrm>
            <a:off x="47777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disciplinární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77774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každý přináší pohled své specializace</a:t>
            </a:r>
            <a:endParaRPr lang="en-US" sz="1800" dirty="0"/>
          </a:p>
        </p:txBody>
      </p:sp>
      <p:sp>
        <p:nvSpPr>
          <p:cNvPr id="11" name="Karta T"/>
          <p:cNvSpPr/>
          <p:nvPr/>
        </p:nvSpPr>
        <p:spPr>
          <a:xfrm>
            <a:off x="8183880" y="1600200"/>
            <a:ext cx="3337560" cy="384048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96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tým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jedno společné rozhodnutí o léčbě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 onkologii se MDT říká onkologická komise (tumor board).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Fungování MDT v praxi</a:t>
            </a:r>
            <a:endParaRPr lang="en-US" sz="3600" dirty="0"/>
          </a:p>
        </p:txBody>
      </p:sp>
      <p:sp>
        <p:nvSpPr>
          <p:cNvPr id="3" name="Pacient kruh"/>
          <p:cNvSpPr/>
          <p:nvPr/>
        </p:nvSpPr>
        <p:spPr>
          <a:xfrm>
            <a:off x="2926080" y="3291840"/>
            <a:ext cx="1005840" cy="10058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4" name="Pacient ikona" descr="Pac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7482" y="353324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1460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Pacient</a:t>
            </a:r>
            <a:endParaRPr lang="en-US" sz="1400" dirty="0"/>
          </a:p>
        </p:txBody>
      </p:sp>
      <p:sp>
        <p:nvSpPr>
          <p:cNvPr id="6" name="Klinický onkolog kruh"/>
          <p:cNvSpPr/>
          <p:nvPr/>
        </p:nvSpPr>
        <p:spPr>
          <a:xfrm>
            <a:off x="3063240" y="150876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7" name="Klinický onkolog ikona" descr="Klinický onko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805" y="168432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42316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Klinický onkolog</a:t>
            </a:r>
            <a:endParaRPr lang="en-US" sz="1400" dirty="0"/>
          </a:p>
        </p:txBody>
      </p:sp>
      <p:sp>
        <p:nvSpPr>
          <p:cNvPr id="9" name="Chirurg kruh"/>
          <p:cNvSpPr/>
          <p:nvPr/>
        </p:nvSpPr>
        <p:spPr>
          <a:xfrm>
            <a:off x="4993481" y="240030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Chirurg ikona" descr="Chirur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046" y="2575865"/>
            <a:ext cx="380390" cy="38039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53401" y="31775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Chirurg</a:t>
            </a:r>
            <a:endParaRPr lang="en-US" sz="1400" dirty="0"/>
          </a:p>
        </p:txBody>
      </p:sp>
      <p:sp>
        <p:nvSpPr>
          <p:cNvPr id="12" name="Radiolog kruh"/>
          <p:cNvSpPr/>
          <p:nvPr/>
        </p:nvSpPr>
        <p:spPr>
          <a:xfrm>
            <a:off x="4993481" y="418338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Radiolog ikona" descr="Radiolo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046" y="4358945"/>
            <a:ext cx="380390" cy="38039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353401" y="49606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Radiolog</a:t>
            </a:r>
            <a:endParaRPr lang="en-US" sz="1400" dirty="0"/>
          </a:p>
        </p:txBody>
      </p:sp>
      <p:sp>
        <p:nvSpPr>
          <p:cNvPr id="15" name="Patolog kruh"/>
          <p:cNvSpPr/>
          <p:nvPr/>
        </p:nvSpPr>
        <p:spPr>
          <a:xfrm>
            <a:off x="3063240" y="507492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Patolog ikona" descr="Patolo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805" y="5250485"/>
            <a:ext cx="380390" cy="38039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423160" y="5852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Patolog</a:t>
            </a:r>
            <a:endParaRPr lang="en-US" sz="1400" dirty="0"/>
          </a:p>
        </p:txBody>
      </p:sp>
      <p:sp>
        <p:nvSpPr>
          <p:cNvPr id="18" name="Radiační onkolog kruh"/>
          <p:cNvSpPr/>
          <p:nvPr/>
        </p:nvSpPr>
        <p:spPr>
          <a:xfrm>
            <a:off x="1132999" y="418338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9" name="Radiační onkolog ikona" descr="Radiační onkolo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564" y="4358945"/>
            <a:ext cx="380390" cy="38039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92919" y="49606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Radiační onkolog</a:t>
            </a:r>
            <a:endParaRPr lang="en-US" sz="1400" dirty="0"/>
          </a:p>
        </p:txBody>
      </p:sp>
      <p:sp>
        <p:nvSpPr>
          <p:cNvPr id="21" name="Hlas pacienta kruh"/>
          <p:cNvSpPr/>
          <p:nvPr/>
        </p:nvSpPr>
        <p:spPr>
          <a:xfrm>
            <a:off x="1132999" y="240030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Hlas pacienta ikona" descr="Hlas pacient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564" y="2575865"/>
            <a:ext cx="380390" cy="38039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92919" y="31775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Hlas pacienta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6949440" y="20116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Parta doktorů se schází, aby společně probrala, co se bude s pacientem dít dál.</a:t>
            </a:r>
            <a:endParaRPr lang="en-US" sz="2800" dirty="0"/>
          </a:p>
        </p:txBody>
      </p:sp>
      <p:sp>
        <p:nvSpPr>
          <p:cNvPr id="25" name="Text 16"/>
          <p:cNvSpPr txBox="1"/>
          <p:nvPr/>
        </p:nvSpPr>
        <p:spPr>
          <a:xfrm>
            <a:off x="6949440" y="42062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Každý vidí jen svou část: snímky, histologii, laboratoř, dotazníky pacienta. Rozhodnutí je ale společné.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Jádro problému</a:t>
            </a:r>
            <a:endParaRPr lang="en-US" sz="3600" dirty="0"/>
          </a:p>
        </p:txBody>
      </p:sp>
      <p:sp>
        <p:nvSpPr>
          <p:cNvPr id="3" name="Rámeček: Sem vložte fotku z jednání komise"/>
          <p:cNvSpPr/>
          <p:nvPr/>
        </p:nvSpPr>
        <p:spPr>
          <a:xfrm>
            <a:off x="640080" y="1508760"/>
            <a:ext cx="676656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5875">
            <a:solidFill>
              <a:schemeClr val="bg2">
                <a:alpha val="55000"/>
              </a:schemeClr>
            </a:solidFill>
            <a:prstDash val="dash"/>
          </a:ln>
        </p:spPr>
      </p:sp>
      <p:pic>
        <p:nvPicPr>
          <p:cNvPr id="4" name="Rámeček ikona: Sem vložte fotku z jednání komise" descr="Sem vložte fotku z jednání kom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3227832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96392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Sem vložte fotku z jednání komise</a:t>
            </a:r>
            <a:endParaRPr lang="en-US" sz="1600" dirty="0"/>
          </a:p>
        </p:txBody>
      </p:sp>
      <p:sp>
        <p:nvSpPr>
          <p:cNvPr id="6" name="Text 1"/>
          <p:cNvSpPr/>
          <p:nvPr>
            <p:ph type="pic" idx="103" hasCustomPrompt="1"/>
          </p:nvPr>
        </p:nvSpPr>
        <p:spPr>
          <a:xfrm>
            <a:off x="640080" y="1508760"/>
            <a:ext cx="676656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Přeslechnutí kruh"/>
          <p:cNvSpPr/>
          <p:nvPr/>
        </p:nvSpPr>
        <p:spPr>
          <a:xfrm>
            <a:off x="7818120" y="160020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8" name="Přeslechnutí ikona" descr="Přeslechnut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85" y="177576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2560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Na plátně je snímek a doktor nahlas čte zprávy.</a:t>
            </a:r>
            <a:endParaRPr lang="en-US" sz="2200" dirty="0"/>
          </a:p>
        </p:txBody>
      </p:sp>
      <p:sp>
        <p:nvSpPr>
          <p:cNvPr id="10" name="Problém"/>
          <p:cNvSpPr/>
          <p:nvPr/>
        </p:nvSpPr>
        <p:spPr>
          <a:xfrm>
            <a:off x="7818120" y="3840480"/>
            <a:ext cx="3730752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92440" y="40690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Jakmile něco přeslechneš, jsi ztracen.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Prvotní řešení: nápověda v aplikaci</a:t>
            </a:r>
            <a:endParaRPr lang="en-US" sz="3600" dirty="0"/>
          </a:p>
        </p:txBody>
      </p:sp>
      <p:sp>
        <p:nvSpPr>
          <p:cNvPr id="3" name="Hledání kruh"/>
          <p:cNvSpPr/>
          <p:nvPr/>
        </p:nvSpPr>
        <p:spPr>
          <a:xfrm>
            <a:off x="640080" y="164592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4" name="Hledání ikona" descr="Hledán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821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606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Nápověda existuje. Stačí se podívat do aplikace.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zprávy a nálezy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laboratoř a snímky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dotazníky pacienta</a:t>
            </a:r>
            <a:endParaRPr lang="en-US" sz="1800" dirty="0"/>
          </a:p>
        </p:txBody>
      </p:sp>
      <p:sp>
        <p:nvSpPr>
          <p:cNvPr id="7" name="Okno aplikace"/>
          <p:cNvSpPr/>
          <p:nvPr/>
        </p:nvSpPr>
        <p:spPr>
          <a:xfrm>
            <a:off x="5852160" y="1600200"/>
            <a:ext cx="57150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8" name="Tečka 1"/>
          <p:cNvSpPr/>
          <p:nvPr/>
        </p:nvSpPr>
        <p:spPr>
          <a:xfrm>
            <a:off x="6080760" y="1810512"/>
            <a:ext cx="118872" cy="118872"/>
          </a:xfrm>
          <a:prstGeom prst="ellipse">
            <a:avLst/>
          </a:prstGeom>
          <a:solidFill>
            <a:schemeClr val="bg2">
              <a:alpha val="50000"/>
            </a:schemeClr>
          </a:solidFill>
          <a:ln/>
        </p:spPr>
      </p:sp>
      <p:sp>
        <p:nvSpPr>
          <p:cNvPr id="9" name="Tečka 2"/>
          <p:cNvSpPr/>
          <p:nvPr/>
        </p:nvSpPr>
        <p:spPr>
          <a:xfrm>
            <a:off x="6309360" y="1810512"/>
            <a:ext cx="118872" cy="118872"/>
          </a:xfrm>
          <a:prstGeom prst="ellipse">
            <a:avLst/>
          </a:prstGeom>
          <a:solidFill>
            <a:schemeClr val="bg2">
              <a:alpha val="50000"/>
            </a:schemeClr>
          </a:solidFill>
          <a:ln/>
        </p:spPr>
      </p:sp>
      <p:sp>
        <p:nvSpPr>
          <p:cNvPr id="10" name="Tečka 3"/>
          <p:cNvSpPr/>
          <p:nvPr/>
        </p:nvSpPr>
        <p:spPr>
          <a:xfrm>
            <a:off x="6537960" y="1810512"/>
            <a:ext cx="118872" cy="118872"/>
          </a:xfrm>
          <a:prstGeom prst="ellipse">
            <a:avLst/>
          </a:prstGeom>
          <a:solidFill>
            <a:schemeClr val="bg2">
              <a:alpha val="50000"/>
            </a:schemeClr>
          </a:solidFill>
          <a:ln/>
        </p:spPr>
      </p:sp>
      <p:sp>
        <p:nvSpPr>
          <p:cNvPr id="11" name="Záložka Zprávy"/>
          <p:cNvSpPr/>
          <p:nvPr/>
        </p:nvSpPr>
        <p:spPr>
          <a:xfrm>
            <a:off x="6080760" y="2148840"/>
            <a:ext cx="694944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25000"/>
            </a:schemeClr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214884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Zprávy</a:t>
            </a:r>
            <a:endParaRPr lang="en-US" sz="1100" dirty="0"/>
          </a:p>
        </p:txBody>
      </p:sp>
      <p:sp>
        <p:nvSpPr>
          <p:cNvPr id="13" name="Záložka Laboratoř"/>
          <p:cNvSpPr/>
          <p:nvPr/>
        </p:nvSpPr>
        <p:spPr>
          <a:xfrm>
            <a:off x="6867144" y="2148840"/>
            <a:ext cx="928116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67144" y="214884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Laboratoř</a:t>
            </a:r>
            <a:endParaRPr lang="en-US" sz="1100" dirty="0"/>
          </a:p>
        </p:txBody>
      </p:sp>
      <p:sp>
        <p:nvSpPr>
          <p:cNvPr id="15" name="Záložka Zobrazování"/>
          <p:cNvSpPr/>
          <p:nvPr/>
        </p:nvSpPr>
        <p:spPr>
          <a:xfrm>
            <a:off x="7886700" y="2148840"/>
            <a:ext cx="1083564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86700" y="2148840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Zobrazování</a:t>
            </a:r>
            <a:endParaRPr lang="en-US" sz="1100" dirty="0"/>
          </a:p>
        </p:txBody>
      </p:sp>
      <p:sp>
        <p:nvSpPr>
          <p:cNvPr id="17" name="Záložka Dotazníky"/>
          <p:cNvSpPr/>
          <p:nvPr/>
        </p:nvSpPr>
        <p:spPr>
          <a:xfrm>
            <a:off x="9061704" y="2148840"/>
            <a:ext cx="928116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61704" y="214884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Dotazníky</a:t>
            </a:r>
            <a:endParaRPr lang="en-US" sz="1100" dirty="0"/>
          </a:p>
        </p:txBody>
      </p:sp>
      <p:sp>
        <p:nvSpPr>
          <p:cNvPr id="19" name="Záložka Medikace"/>
          <p:cNvSpPr/>
          <p:nvPr/>
        </p:nvSpPr>
        <p:spPr>
          <a:xfrm>
            <a:off x="10081260" y="2148840"/>
            <a:ext cx="850392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81260" y="214884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Medikace</a:t>
            </a:r>
            <a:endParaRPr lang="en-US" sz="1100" dirty="0"/>
          </a:p>
        </p:txBody>
      </p:sp>
      <p:sp>
        <p:nvSpPr>
          <p:cNvPr id="21" name="Řádek 1 popisek"/>
          <p:cNvSpPr/>
          <p:nvPr/>
        </p:nvSpPr>
        <p:spPr>
          <a:xfrm>
            <a:off x="6080760" y="2697480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2" name="Řádek 1 text"/>
          <p:cNvSpPr/>
          <p:nvPr/>
        </p:nvSpPr>
        <p:spPr>
          <a:xfrm>
            <a:off x="7086600" y="2697480"/>
            <a:ext cx="20116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3" name="Řádek 2 popisek"/>
          <p:cNvSpPr/>
          <p:nvPr/>
        </p:nvSpPr>
        <p:spPr>
          <a:xfrm>
            <a:off x="6080760" y="3044952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4" name="Řádek 2 text"/>
          <p:cNvSpPr/>
          <p:nvPr/>
        </p:nvSpPr>
        <p:spPr>
          <a:xfrm>
            <a:off x="7086600" y="3044952"/>
            <a:ext cx="329184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5" name="Řádek 3 popisek"/>
          <p:cNvSpPr/>
          <p:nvPr/>
        </p:nvSpPr>
        <p:spPr>
          <a:xfrm>
            <a:off x="6080760" y="3392424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6" name="Řádek 3 text"/>
          <p:cNvSpPr/>
          <p:nvPr/>
        </p:nvSpPr>
        <p:spPr>
          <a:xfrm>
            <a:off x="7086600" y="3392424"/>
            <a:ext cx="24688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7" name="Řádek 4 popisek"/>
          <p:cNvSpPr/>
          <p:nvPr/>
        </p:nvSpPr>
        <p:spPr>
          <a:xfrm>
            <a:off x="6080760" y="3739896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8" name="Řádek 4 text"/>
          <p:cNvSpPr/>
          <p:nvPr/>
        </p:nvSpPr>
        <p:spPr>
          <a:xfrm>
            <a:off x="7086600" y="3739896"/>
            <a:ext cx="374904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9" name="Řádek 5 popisek"/>
          <p:cNvSpPr/>
          <p:nvPr/>
        </p:nvSpPr>
        <p:spPr>
          <a:xfrm>
            <a:off x="6080760" y="4087368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0" name="Řádek 5 text"/>
          <p:cNvSpPr/>
          <p:nvPr/>
        </p:nvSpPr>
        <p:spPr>
          <a:xfrm>
            <a:off x="7086600" y="4087368"/>
            <a:ext cx="29260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1" name="Řádek 6 popisek"/>
          <p:cNvSpPr/>
          <p:nvPr/>
        </p:nvSpPr>
        <p:spPr>
          <a:xfrm>
            <a:off x="6080760" y="4434840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2" name="Řádek 6 text"/>
          <p:cNvSpPr/>
          <p:nvPr/>
        </p:nvSpPr>
        <p:spPr>
          <a:xfrm>
            <a:off x="7086600" y="4434840"/>
            <a:ext cx="210312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3" name="Řádek 7 popisek"/>
          <p:cNvSpPr/>
          <p:nvPr/>
        </p:nvSpPr>
        <p:spPr>
          <a:xfrm>
            <a:off x="6080760" y="4782312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4" name="Řádek 7 text"/>
          <p:cNvSpPr/>
          <p:nvPr/>
        </p:nvSpPr>
        <p:spPr>
          <a:xfrm>
            <a:off x="7086600" y="4782312"/>
            <a:ext cx="33832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5" name="Řádek 8 popisek"/>
          <p:cNvSpPr/>
          <p:nvPr/>
        </p:nvSpPr>
        <p:spPr>
          <a:xfrm>
            <a:off x="6080760" y="5129784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6" name="Řádek 8 text"/>
          <p:cNvSpPr/>
          <p:nvPr/>
        </p:nvSpPr>
        <p:spPr>
          <a:xfrm>
            <a:off x="7086600" y="5129784"/>
            <a:ext cx="256032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7" name="Řádek 9 popisek"/>
          <p:cNvSpPr/>
          <p:nvPr/>
        </p:nvSpPr>
        <p:spPr>
          <a:xfrm>
            <a:off x="6080760" y="5477256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8" name="Řádek 9 text"/>
          <p:cNvSpPr/>
          <p:nvPr/>
        </p:nvSpPr>
        <p:spPr>
          <a:xfrm>
            <a:off x="7086600" y="5477256"/>
            <a:ext cx="38404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Úskalí: na hledání není čas</a:t>
            </a:r>
            <a:endParaRPr lang="en-US" sz="3600" dirty="0"/>
          </a:p>
        </p:txBody>
      </p:sp>
      <p:sp>
        <p:nvSpPr>
          <p:cNvPr id="3" name="Čas na pacienta"/>
          <p:cNvSpPr/>
          <p:nvPr/>
        </p:nvSpPr>
        <p:spPr>
          <a:xfrm>
            <a:off x="640080" y="1600200"/>
            <a:ext cx="493776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4" name="Čas kruh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5" name="Čas ikona" descr="Č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20958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7889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3–5 min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na jednoho pacienta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754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Pět specialistů se za tu dobu musí zorientovat v pacientovi, kterého často vidí poprvé.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920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Tohle všechno už víme.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6060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Hledat v aplikaci uprostřed jednání ale nechce nikdo.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4297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Než informaci dohledáš, diskuse už běží dál.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Chybí ti informace? </a:t>
            </a:r>
            <a:pPr algn="l"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Zeptej se AI bota</a:t>
            </a:r>
            <a:endParaRPr lang="en-US" sz="3600" dirty="0"/>
          </a:p>
        </p:txBody>
      </p:sp>
      <p:sp>
        <p:nvSpPr>
          <p:cNvPr id="3" name="Ukázka odpovědi"/>
          <p:cNvSpPr/>
          <p:nvPr/>
        </p:nvSpPr>
        <p:spPr>
          <a:xfrm>
            <a:off x="640080" y="1508760"/>
            <a:ext cx="108813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5875">
            <a:solidFill>
              <a:schemeClr val="accent2">
                <a:alpha val="50000"/>
              </a:schemeClr>
            </a:solidFill>
            <a:prstDash val="solid"/>
          </a:ln>
        </p:spPr>
      </p:sp>
      <p:pic>
        <p:nvPicPr>
          <p:cNvPr id="4" name="Odpověď AI z aplikace" descr="Skutečná odpověď AI v aplikaci MedTeam s citacemi zdroj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10424160" cy="2286000"/>
          </a:xfrm>
          <a:prstGeom prst="rect">
            <a:avLst/>
          </a:prstGeom>
        </p:spPr>
      </p:pic>
      <p:sp>
        <p:nvSpPr>
          <p:cNvPr id="5" name="Odpoví hned kruh"/>
          <p:cNvSpPr/>
          <p:nvPr/>
        </p:nvSpPr>
        <p:spPr>
          <a:xfrm>
            <a:off x="640080" y="4526280"/>
            <a:ext cx="685800" cy="6858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6" name="Odpoví hned ikona" descr="Odpoví hn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90872"/>
            <a:ext cx="356616" cy="3566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Odpoví hned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49560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otázka vlastními slovy, odpověď za pár sekund</a:t>
            </a:r>
            <a:endParaRPr lang="en-US" sz="1500" dirty="0"/>
          </a:p>
        </p:txBody>
      </p:sp>
      <p:sp>
        <p:nvSpPr>
          <p:cNvPr id="9" name="Jen z dat pacienta kruh"/>
          <p:cNvSpPr/>
          <p:nvPr/>
        </p:nvSpPr>
        <p:spPr>
          <a:xfrm>
            <a:off x="4297680" y="4526280"/>
            <a:ext cx="685800" cy="6858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Jen z dat pacienta ikona" descr="Jen z dat pacien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469087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6636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Jen z dat pacienta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5166360" y="49560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čte z nemocniční databáze InterSystems IRIS (FHIR)</a:t>
            </a:r>
            <a:endParaRPr lang="en-US" sz="1500" dirty="0"/>
          </a:p>
        </p:txBody>
      </p:sp>
      <p:sp>
        <p:nvSpPr>
          <p:cNvPr id="13" name="S citací zdroje kruh"/>
          <p:cNvSpPr/>
          <p:nvPr/>
        </p:nvSpPr>
        <p:spPr>
          <a:xfrm>
            <a:off x="7955280" y="4526280"/>
            <a:ext cx="685800" cy="6858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S citací zdroje ikona" descr="S citací zdroj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4690872"/>
            <a:ext cx="356616" cy="35661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82396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 citací zdroje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8823960" y="49560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každá věta s odkazem a mírou shody, ověření jedním klikem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Infrastruktura dnes (bez AI)</a:t>
            </a:r>
            <a:endParaRPr lang="en-US" sz="3600" dirty="0"/>
          </a:p>
        </p:txBody>
      </p:sp>
      <p:sp>
        <p:nvSpPr>
          <p:cNvPr id="3" name="NIS · zprávy"/>
          <p:cNvSpPr/>
          <p:nvPr/>
        </p:nvSpPr>
        <p:spPr>
          <a:xfrm>
            <a:off x="640080" y="160020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4" name="NIS · zprávy ikona" descr="NIS · zpráv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19656"/>
            <a:ext cx="429768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6002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NIS · zprávy</a:t>
            </a:r>
            <a:endParaRPr lang="en-US" sz="1500" dirty="0"/>
          </a:p>
        </p:txBody>
      </p:sp>
      <p:sp>
        <p:nvSpPr>
          <p:cNvPr id="6" name="Šipka NIS · zprávy → IRIS"/>
          <p:cNvSpPr/>
          <p:nvPr/>
        </p:nvSpPr>
        <p:spPr>
          <a:xfrm>
            <a:off x="3291840" y="2034540"/>
            <a:ext cx="868680" cy="144018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7" name="PACS · snímky"/>
          <p:cNvSpPr/>
          <p:nvPr/>
        </p:nvSpPr>
        <p:spPr>
          <a:xfrm>
            <a:off x="640080" y="2679192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8" name="PACS · snímky ikona" descr="PACS · snímk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98648"/>
            <a:ext cx="429768" cy="429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6791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PACS · snímky</a:t>
            </a:r>
            <a:endParaRPr lang="en-US" sz="1500" dirty="0"/>
          </a:p>
        </p:txBody>
      </p:sp>
      <p:sp>
        <p:nvSpPr>
          <p:cNvPr id="10" name="Šipka PACS · snímky → IRIS"/>
          <p:cNvSpPr/>
          <p:nvPr/>
        </p:nvSpPr>
        <p:spPr>
          <a:xfrm>
            <a:off x="3291840" y="3113532"/>
            <a:ext cx="868680" cy="361188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1" name="Laboratoř"/>
          <p:cNvSpPr/>
          <p:nvPr/>
        </p:nvSpPr>
        <p:spPr>
          <a:xfrm>
            <a:off x="640080" y="3758184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12" name="Laboratoř ikona" descr="Laborato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77640"/>
            <a:ext cx="429768" cy="4297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58184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Laboratoř</a:t>
            </a:r>
            <a:endParaRPr lang="en-US" sz="1500" dirty="0"/>
          </a:p>
        </p:txBody>
      </p:sp>
      <p:sp>
        <p:nvSpPr>
          <p:cNvPr id="14" name="Šipka Laboratoř → IRIS"/>
          <p:cNvSpPr/>
          <p:nvPr/>
        </p:nvSpPr>
        <p:spPr>
          <a:xfrm flipV="1">
            <a:off x="3291840" y="3474720"/>
            <a:ext cx="868680" cy="71780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Dotazníky pacienta"/>
          <p:cNvSpPr/>
          <p:nvPr/>
        </p:nvSpPr>
        <p:spPr>
          <a:xfrm>
            <a:off x="640080" y="4837176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16" name="Dotazníky pacienta ikona" descr="Dotazníky pacien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056632"/>
            <a:ext cx="429768" cy="4297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83717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Dotazníky pacienta</a:t>
            </a:r>
            <a:endParaRPr lang="en-US" sz="1500" dirty="0"/>
          </a:p>
        </p:txBody>
      </p:sp>
      <p:sp>
        <p:nvSpPr>
          <p:cNvPr id="18" name="Šipka Dotazníky pacienta → IRIS"/>
          <p:cNvSpPr/>
          <p:nvPr/>
        </p:nvSpPr>
        <p:spPr>
          <a:xfrm flipV="1">
            <a:off x="3291840" y="3474720"/>
            <a:ext cx="868680" cy="1796796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IRIS"/>
          <p:cNvSpPr/>
          <p:nvPr/>
        </p:nvSpPr>
        <p:spPr>
          <a:xfrm>
            <a:off x="4160520" y="233172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22225">
            <a:solidFill>
              <a:schemeClr val="accent1">
                <a:alpha val="80000"/>
              </a:schemeClr>
            </a:solidFill>
            <a:prstDash val="solid"/>
          </a:ln>
        </p:spPr>
      </p:sp>
      <p:pic>
        <p:nvPicPr>
          <p:cNvPr id="20" name="IRIS ikona" descr="IRI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6060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29768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InterSystems IRIS for Health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429768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FHIR R4 · jeden zdroj dat pacienta</a:t>
            </a:r>
            <a:endParaRPr lang="en-US" sz="1400" dirty="0"/>
          </a:p>
        </p:txBody>
      </p:sp>
      <p:sp>
        <p:nvSpPr>
          <p:cNvPr id="23" name="MedTeam"/>
          <p:cNvSpPr/>
          <p:nvPr/>
        </p:nvSpPr>
        <p:spPr>
          <a:xfrm>
            <a:off x="7315200" y="2331720"/>
            <a:ext cx="1828800" cy="2286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pic>
        <p:nvPicPr>
          <p:cNvPr id="24" name="MedTeam ikona" descr="MedTe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260604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52360" y="3246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MedTeam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745236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webová aplikace</a:t>
            </a:r>
            <a:endParaRPr lang="en-US" sz="1400" dirty="0"/>
          </a:p>
        </p:txBody>
      </p:sp>
      <p:sp>
        <p:nvSpPr>
          <p:cNvPr id="27" name="Komise"/>
          <p:cNvSpPr/>
          <p:nvPr/>
        </p:nvSpPr>
        <p:spPr>
          <a:xfrm>
            <a:off x="9646920" y="233172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pic>
        <p:nvPicPr>
          <p:cNvPr id="28" name="Komise ikona" descr="Komi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9860" y="2606040"/>
            <a:ext cx="548640" cy="54864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78408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Komise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9784080" y="3931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notebook předsedy + plátno</a:t>
            </a:r>
            <a:endParaRPr lang="en-US" sz="1400" dirty="0"/>
          </a:p>
        </p:txBody>
      </p:sp>
      <p:sp>
        <p:nvSpPr>
          <p:cNvPr id="31" name="Spojení 1"/>
          <p:cNvSpPr/>
          <p:nvPr/>
        </p:nvSpPr>
        <p:spPr>
          <a:xfrm>
            <a:off x="6812280" y="3474720"/>
            <a:ext cx="50292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2" name="Spojení 2"/>
          <p:cNvSpPr/>
          <p:nvPr/>
        </p:nvSpPr>
        <p:spPr>
          <a:xfrm>
            <a:off x="9144000" y="3474720"/>
            <a:ext cx="50292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3" name="Text 24"/>
          <p:cNvSpPr txBox="1"/>
          <p:nvPr/>
        </p:nvSpPr>
        <p:spPr>
          <a:xfrm>
            <a:off x="4160520" y="507492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Data pacienta zůstávají v nemocnici. MedTeam čte jen z IRIS a potvrzený závěr zapisuje zpět.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AI server a živá ukázka</a:t>
            </a:r>
            <a:endParaRPr lang="en-US" sz="3600" dirty="0"/>
          </a:p>
        </p:txBody>
      </p:sp>
      <p:sp>
        <p:nvSpPr>
          <p:cNvPr id="3" name="Rámeček: Fotka AI serveru"/>
          <p:cNvSpPr/>
          <p:nvPr/>
        </p:nvSpPr>
        <p:spPr>
          <a:xfrm>
            <a:off x="640080" y="1508760"/>
            <a:ext cx="530352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5875">
            <a:solidFill>
              <a:schemeClr val="bg2">
                <a:alpha val="55000"/>
              </a:schemeClr>
            </a:solidFill>
            <a:prstDash val="dash"/>
          </a:ln>
        </p:spPr>
      </p:sp>
      <p:pic>
        <p:nvPicPr>
          <p:cNvPr id="4" name="Rámeček ikona: Fotka AI serveru" descr="Fotka AI serve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724912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4610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 AI serveru</a:t>
            </a:r>
            <a:endParaRPr lang="en-US" sz="1600" dirty="0"/>
          </a:p>
        </p:txBody>
      </p:sp>
      <p:sp>
        <p:nvSpPr>
          <p:cNvPr id="6" name="Rámeček: Fotka Raspberry Pi"/>
          <p:cNvSpPr/>
          <p:nvPr/>
        </p:nvSpPr>
        <p:spPr>
          <a:xfrm>
            <a:off x="6245352" y="1508760"/>
            <a:ext cx="530352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5875">
            <a:solidFill>
              <a:schemeClr val="bg2">
                <a:alpha val="55000"/>
              </a:schemeClr>
            </a:solidFill>
            <a:prstDash val="dash"/>
          </a:ln>
        </p:spPr>
      </p:sp>
      <p:pic>
        <p:nvPicPr>
          <p:cNvPr id="7" name="Rámeček ikona: Fotka Raspberry Pi" descr="Fotka Raspberry 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2724912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28232" y="34610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 Raspberry Pi</a:t>
            </a:r>
            <a:endParaRPr lang="en-US" sz="1600" dirty="0"/>
          </a:p>
        </p:txBody>
      </p:sp>
      <p:sp>
        <p:nvSpPr>
          <p:cNvPr id="9" name="Text 1"/>
          <p:cNvSpPr/>
          <p:nvPr>
            <p:ph type="pic" idx="103" hasCustomPrompt="1"/>
          </p:nvPr>
        </p:nvSpPr>
        <p:spPr>
          <a:xfrm>
            <a:off x="640080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Text 1"/>
          <p:cNvSpPr/>
          <p:nvPr>
            <p:ph type="pic" idx="104" hasCustomPrompt="1"/>
          </p:nvPr>
        </p:nvSpPr>
        <p:spPr>
          <a:xfrm>
            <a:off x="6245352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1389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 server v serverovně nemocnice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245352" y="51389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Raspberry Pi: praktická ukázka</a:t>
            </a:r>
            <a:endParaRPr lang="en-US" sz="1800" dirty="0"/>
          </a:p>
        </p:txBody>
      </p:sp>
      <p:pic>
        <p:nvPicPr>
          <p:cNvPr id="13" name="Ochrana dat ikona" descr="Ochrana d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327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60704" y="55961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Model běží v nemocnici, data pacienta ji neopustí.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Celý proces od zprávy po zápis</a:t>
            </a:r>
            <a:endParaRPr lang="en-US" sz="3600" dirty="0"/>
          </a:p>
        </p:txBody>
      </p:sp>
      <p:sp>
        <p:nvSpPr>
          <p:cNvPr id="3" name="Osa procesu"/>
          <p:cNvSpPr/>
          <p:nvPr/>
        </p:nvSpPr>
        <p:spPr>
          <a:xfrm>
            <a:off x="1417320" y="2606040"/>
            <a:ext cx="9326880" cy="0"/>
          </a:xfrm>
          <a:prstGeom prst="line">
            <a:avLst/>
          </a:prstGeom>
          <a:noFill/>
          <a:ln w="12700">
            <a:solidFill>
              <a:schemeClr val="bg2">
                <a:alpha val="50000"/>
              </a:schemeClr>
            </a:solidFill>
            <a:prstDash val="solid"/>
          </a:ln>
        </p:spPr>
      </p:sp>
      <p:sp>
        <p:nvSpPr>
          <p:cNvPr id="4" name="Zprávy, nálezy, dotazníky kruh"/>
          <p:cNvSpPr/>
          <p:nvPr/>
        </p:nvSpPr>
        <p:spPr>
          <a:xfrm>
            <a:off x="97840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Zprávy, nálezy, dotazníky ikona" descr="Zprávy, nálezy, dotazník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377806"/>
            <a:ext cx="456468" cy="456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Zprávy, nálezy, dotazníky</a:t>
            </a:r>
            <a:endParaRPr lang="en-US" sz="1500" dirty="0"/>
          </a:p>
        </p:txBody>
      </p:sp>
      <p:sp>
        <p:nvSpPr>
          <p:cNvPr id="8" name="IRIS · FHIR databáze kruh"/>
          <p:cNvSpPr/>
          <p:nvPr/>
        </p:nvSpPr>
        <p:spPr>
          <a:xfrm>
            <a:off x="253288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IRIS · FHIR databáze ikona" descr="IRIS · FHIR databá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566" y="2377806"/>
            <a:ext cx="456468" cy="4564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460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24028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IRIS · FHIR databáze</a:t>
            </a:r>
            <a:endParaRPr lang="en-US" sz="1500" dirty="0"/>
          </a:p>
        </p:txBody>
      </p:sp>
      <p:sp>
        <p:nvSpPr>
          <p:cNvPr id="12" name="AI podklad s citacemi kruh"/>
          <p:cNvSpPr/>
          <p:nvPr/>
        </p:nvSpPr>
        <p:spPr>
          <a:xfrm>
            <a:off x="408736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3" name="AI podklad s citacemi ikona" descr="AI podklad s citacem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046" y="2377806"/>
            <a:ext cx="456468" cy="4564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6908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7947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 podklad s citacemi</a:t>
            </a:r>
            <a:endParaRPr lang="en-US" sz="1500" dirty="0"/>
          </a:p>
        </p:txBody>
      </p:sp>
      <p:sp>
        <p:nvSpPr>
          <p:cNvPr id="16" name="Jednání: plátno, chat, AI bot kruh"/>
          <p:cNvSpPr/>
          <p:nvPr/>
        </p:nvSpPr>
        <p:spPr>
          <a:xfrm>
            <a:off x="564184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Jednání: plátno, chat, AI bot ikona" descr="Jednání: plátno, chat, AI 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526" y="2377806"/>
            <a:ext cx="456468" cy="4564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34924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Jednání: plátno, chat, AI bot</a:t>
            </a:r>
            <a:endParaRPr lang="en-US" sz="1500" dirty="0"/>
          </a:p>
        </p:txBody>
      </p:sp>
      <p:sp>
        <p:nvSpPr>
          <p:cNvPr id="20" name="AI zapisovatel kruh"/>
          <p:cNvSpPr/>
          <p:nvPr/>
        </p:nvSpPr>
        <p:spPr>
          <a:xfrm>
            <a:off x="719632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1" name="AI zapisovatel ikona" descr="AI zapisovat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006" y="2377806"/>
            <a:ext cx="456468" cy="4564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7804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90372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 zapisovatel</a:t>
            </a:r>
            <a:endParaRPr lang="en-US" sz="1500" dirty="0"/>
          </a:p>
        </p:txBody>
      </p:sp>
      <p:sp>
        <p:nvSpPr>
          <p:cNvPr id="24" name="Lékař potvrdí kruh"/>
          <p:cNvSpPr/>
          <p:nvPr/>
        </p:nvSpPr>
        <p:spPr>
          <a:xfrm>
            <a:off x="875080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5" name="Lékař potvrdí ikona" descr="Lékař potvrdí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486" y="2377806"/>
            <a:ext cx="456468" cy="4564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3252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45820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Lékař potvrdí</a:t>
            </a:r>
            <a:endParaRPr lang="en-US" sz="1500" dirty="0"/>
          </a:p>
        </p:txBody>
      </p:sp>
      <p:sp>
        <p:nvSpPr>
          <p:cNvPr id="28" name="Zápis do IRIS a export kruh"/>
          <p:cNvSpPr/>
          <p:nvPr/>
        </p:nvSpPr>
        <p:spPr>
          <a:xfrm>
            <a:off x="1030528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9" name="Zápis do IRIS a export ikona" descr="Zápis do IRIS a expo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966" y="2377806"/>
            <a:ext cx="456468" cy="45646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8700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1001268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Zápis do IRIS a export</a:t>
            </a:r>
            <a:endParaRPr lang="en-US" sz="1500" dirty="0"/>
          </a:p>
        </p:txBody>
      </p:sp>
      <p:sp>
        <p:nvSpPr>
          <p:cNvPr id="32" name="Legenda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33" name="Legenda AI"/>
          <p:cNvSpPr/>
          <p:nvPr/>
        </p:nvSpPr>
        <p:spPr>
          <a:xfrm>
            <a:off x="914400" y="5285232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1280160" y="5193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AI navrhuje</a:t>
            </a:r>
            <a:endParaRPr lang="en-US" sz="1600" dirty="0"/>
          </a:p>
        </p:txBody>
      </p:sp>
      <p:sp>
        <p:nvSpPr>
          <p:cNvPr id="35" name="Legenda lékař"/>
          <p:cNvSpPr/>
          <p:nvPr/>
        </p:nvSpPr>
        <p:spPr>
          <a:xfrm>
            <a:off x="3383280" y="52852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3749040" y="5193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data a lékař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035040" y="51937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Oficiální je až to, co potvrdí lékař.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Náš tým</a:t>
            </a:r>
            <a:endParaRPr lang="en-US" sz="3600" dirty="0"/>
          </a:p>
        </p:txBody>
      </p:sp>
      <p:sp>
        <p:nvSpPr>
          <p:cNvPr id="3" name="Rámeček: Fotka"/>
          <p:cNvSpPr/>
          <p:nvPr/>
        </p:nvSpPr>
        <p:spPr>
          <a:xfrm>
            <a:off x="640080" y="160020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5875">
            <a:solidFill>
              <a:schemeClr val="bg2">
                <a:alpha val="55000"/>
              </a:schemeClr>
            </a:solidFill>
            <a:prstDash val="dash"/>
          </a:ln>
        </p:spPr>
      </p:sp>
      <p:pic>
        <p:nvPicPr>
          <p:cNvPr id="4" name="Rámeček ikona: Fotka" descr="Fotk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283714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9672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Fotka</a:t>
            </a:r>
            <a:endParaRPr lang="en-US" sz="1200" dirty="0"/>
          </a:p>
        </p:txBody>
      </p:sp>
      <p:sp>
        <p:nvSpPr>
          <p:cNvPr id="6" name="Rámeček: Fotka"/>
          <p:cNvSpPr/>
          <p:nvPr/>
        </p:nvSpPr>
        <p:spPr>
          <a:xfrm>
            <a:off x="3474720" y="160020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5875">
            <a:solidFill>
              <a:schemeClr val="bg2">
                <a:alpha val="55000"/>
              </a:schemeClr>
            </a:solidFill>
            <a:prstDash val="dash"/>
          </a:ln>
        </p:spPr>
      </p:sp>
      <p:pic>
        <p:nvPicPr>
          <p:cNvPr id="7" name="Rámeček ikona: Fotka" descr="Fotk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283714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0" y="29672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Fotka</a:t>
            </a:r>
            <a:endParaRPr lang="en-US" sz="1200" dirty="0"/>
          </a:p>
        </p:txBody>
      </p:sp>
      <p:sp>
        <p:nvSpPr>
          <p:cNvPr id="9" name="Rámeček: Fotka"/>
          <p:cNvSpPr/>
          <p:nvPr/>
        </p:nvSpPr>
        <p:spPr>
          <a:xfrm>
            <a:off x="6309360" y="160020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5875">
            <a:solidFill>
              <a:schemeClr val="bg2">
                <a:alpha val="55000"/>
              </a:schemeClr>
            </a:solidFill>
            <a:prstDash val="dash"/>
          </a:ln>
        </p:spPr>
      </p:sp>
      <p:pic>
        <p:nvPicPr>
          <p:cNvPr id="10" name="Rámeček ikona: Fotka" descr="Fotk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2283714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92240" y="29672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Fotka</a:t>
            </a:r>
            <a:endParaRPr lang="en-US" sz="1200" dirty="0"/>
          </a:p>
        </p:txBody>
      </p:sp>
      <p:sp>
        <p:nvSpPr>
          <p:cNvPr id="12" name="Rámeček: Fotka"/>
          <p:cNvSpPr/>
          <p:nvPr/>
        </p:nvSpPr>
        <p:spPr>
          <a:xfrm>
            <a:off x="9144000" y="160020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5875">
            <a:solidFill>
              <a:schemeClr val="bg2">
                <a:alpha val="55000"/>
              </a:schemeClr>
            </a:solidFill>
            <a:prstDash val="dash"/>
          </a:ln>
        </p:spPr>
      </p:sp>
      <p:pic>
        <p:nvPicPr>
          <p:cNvPr id="13" name="Rámeček ikona: Fotka" descr="Fotk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2283714"/>
            <a:ext cx="594360" cy="5943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326880" y="29672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Fotka</a:t>
            </a:r>
            <a:endParaRPr lang="en-US" sz="1200" dirty="0"/>
          </a:p>
        </p:txBody>
      </p:sp>
      <p:sp>
        <p:nvSpPr>
          <p:cNvPr id="15" name="Text 1"/>
          <p:cNvSpPr/>
          <p:nvPr>
            <p:ph type="pic" idx="103" hasCustomPrompt="1"/>
          </p:nvPr>
        </p:nvSpPr>
        <p:spPr>
          <a:xfrm>
            <a:off x="64008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Seb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infrastruktura a API</a:t>
            </a:r>
            <a:endParaRPr lang="en-US" sz="1600" dirty="0"/>
          </a:p>
        </p:txBody>
      </p:sp>
      <p:sp>
        <p:nvSpPr>
          <p:cNvPr id="18" name="Text 1"/>
          <p:cNvSpPr/>
          <p:nvPr>
            <p:ph type="pic" idx="104" hasCustomPrompt="1"/>
          </p:nvPr>
        </p:nvSpPr>
        <p:spPr>
          <a:xfrm>
            <a:off x="347472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347472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Maty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347472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data a InterSystems IRIS</a:t>
            </a:r>
            <a:endParaRPr lang="en-US" sz="1600" dirty="0"/>
          </a:p>
        </p:txBody>
      </p:sp>
      <p:sp>
        <p:nvSpPr>
          <p:cNvPr id="21" name="Text 1"/>
          <p:cNvSpPr/>
          <p:nvPr>
            <p:ph type="pic" idx="105" hasCustomPrompt="1"/>
          </p:nvPr>
        </p:nvSpPr>
        <p:spPr>
          <a:xfrm>
            <a:off x="630936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30936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Jarda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630936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AI</a:t>
            </a:r>
            <a:endParaRPr lang="en-US" sz="1600" dirty="0"/>
          </a:p>
        </p:txBody>
      </p:sp>
      <p:sp>
        <p:nvSpPr>
          <p:cNvPr id="24" name="Text 1"/>
          <p:cNvSpPr/>
          <p:nvPr>
            <p:ph type="pic" idx="106" hasCustomPrompt="1"/>
          </p:nvPr>
        </p:nvSpPr>
        <p:spPr>
          <a:xfrm>
            <a:off x="914400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Mira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UI a pitch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edTeam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5486400" cy="18105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605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Děkujeme za pozornost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5212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AI předkládá.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Lékař rozhoduje.</a:t>
            </a:r>
            <a:endParaRPr lang="en-US" sz="2600" dirty="0"/>
          </a:p>
        </p:txBody>
      </p:sp>
      <p:sp>
        <p:nvSpPr>
          <p:cNvPr id="5" name="QR karta"/>
          <p:cNvSpPr/>
          <p:nvPr/>
        </p:nvSpPr>
        <p:spPr>
          <a:xfrm>
            <a:off x="8412480" y="132588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6" name="QR kód" descr="QR kód na medteam.nervelabs.co.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107" y="1543507"/>
            <a:ext cx="2673706" cy="26737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0" y="4617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Vyzkoušejte si demo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medteam.nervelabs.co.uk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Team">
  <a:themeElements>
    <a:clrScheme name="MedTeam">
      <a:dk1>
        <a:srgbClr val="0B1118"/>
      </a:dk1>
      <a:lt1>
        <a:srgbClr val="F1F5F9"/>
      </a:lt1>
      <a:dk2>
        <a:srgbClr val="111A24"/>
      </a:dk2>
      <a:lt2>
        <a:srgbClr val="94A3B8"/>
      </a:lt2>
      <a:accent1>
        <a:srgbClr val="2DD4BF"/>
      </a:accent1>
      <a:accent2>
        <a:srgbClr val="A78BFA"/>
      </a:accent2>
      <a:accent3>
        <a:srgbClr val="FBBF24"/>
      </a:accent3>
      <a:accent4>
        <a:srgbClr val="F87171"/>
      </a:accent4>
      <a:accent5>
        <a:srgbClr val="C8102E"/>
      </a:accent5>
      <a:accent6>
        <a:srgbClr val="3FB4C0"/>
      </a:accent6>
      <a:hlink>
        <a:srgbClr val="2DD4BF"/>
      </a:hlink>
      <a:folHlink>
        <a:srgbClr val="A78BFA"/>
      </a:folHlink>
    </a:clrScheme>
    <a:fontScheme name="MedTeam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MedTeam · MDT Copilot · Rakathon 2026</dc:title>
  <dc:subject>PptxGenJS Presentation</dc:subject>
  <dc:creator>Tým MedTeam</dc:creator>
  <cp:lastModifiedBy>Tým MedTeam</cp:lastModifiedBy>
  <cp:revision>1</cp:revision>
  <dcterms:created xsi:type="dcterms:W3CDTF">2026-10-18T09:42:45Z</dcterms:created>
  <dcterms:modified xsi:type="dcterms:W3CDTF">2026-10-18T09:42:45Z</dcterms:modified>
</cp:coreProperties>
</file>